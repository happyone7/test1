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1: 타이틀 화면 (게임 시작)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9906000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40005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배경: (0,0) 1920x1080 #0B0F1A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0" y="1905000"/>
            <a:ext cx="9525000" cy="952500"/>
          </a:xfrm>
          <a:prstGeom prst="rect">
            <a:avLst/>
          </a:prstGeom>
          <a:noFill/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0" y="2000250"/>
            <a:ext cx="9525000" cy="952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2BFF88"/>
                </a:solidFill>
              </a:defRPr>
            </a:pPr>
            <a:r>
              <a:t>NODEBREAKER 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0" y="17335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제목: (460,160) 1000x100px, 48pt 굵게, #2BFF88, Anchor=Center-Center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0" y="3048000"/>
            <a:ext cx="9525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AFC3E8"/>
                </a:solidFill>
              </a:defRPr>
            </a:pPr>
            <a:r>
              <a:t>네트워크를 지켜라. Node를 격파하라.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0" y="28956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부제목: (460,320) 1000x40px, 16pt, #AFC3E8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000" y="4572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0" y="4686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2BFF88"/>
                </a:solidFill>
              </a:defRPr>
            </a:pPr>
            <a:r>
              <a:t>[ 시작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0" y="4667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버튼 '시작': (760,480) 400x60px, 테두리 #2BFF88, 20pt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5334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0" y="5448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7B6FF"/>
                </a:solidFill>
              </a:defRPr>
            </a:pPr>
            <a:r>
              <a:t>[ 설정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0" y="5429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버튼 '설정': (760,560) 400x60px, 테두리 #37B6FF, 20pt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0" y="6096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0" y="6210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4D5A"/>
                </a:solidFill>
              </a:defRPr>
            </a:pPr>
            <a:r>
              <a:t>[ 종료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0" y="6191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버튼 '종료': (760,640) 400x60px, 테두리 #FF4D5A, 20pt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" y="7429500"/>
            <a:ext cx="5715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명세 노트 - 타이틀 화면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레이아웃: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해상도: 1920x1080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모든 요소 가로 중앙 정렬 (Anchor: Center)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제목 Y=200, 버튼 시작 Y=480, 간격=20px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Unity RectTransform: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배경: Stretch-Stretch, 모든 오프셋=0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제목: Anchor=Top-Center, Pivot=(0.5, 0.5)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버튼: Anchor=Top-Center, Pivot=(0.5, 0.5)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버튼 간격: 중심 간 80px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색상: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배경: #0B0F1A | 패널: #121A2A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시작 버튼 테두리: #2BFF88 | 설정: #37B6FF | 종료: #FF4D5A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제목 텍스트: #2BFF88 48pt 굵게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인터랙션: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호버: 테두리 발광 강도 +50%, 채우기 #1A243A로 밝게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클릭: 0.1초간 0.95배 축소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2: Hub 화면 (스킬 트리)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47625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238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상단 바: (0,0) 1920x50px, 채우기=#121A2A, 하단 테두리=#5B6B8A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BFF88"/>
                </a:solidFill>
              </a:defRPr>
            </a:pPr>
            <a:r>
              <a:t>Bit: 1,250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" y="809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Bit: (20,8) 200x35px, 16pt 굵게, #2BFF88, Anchor=Left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B86CFF"/>
                </a:solidFill>
              </a:defRPr>
            </a:pPr>
            <a:r>
              <a:t>Core: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809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Core: (240,8) 200x35px, 16pt 굵게, #B86CFF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87500" y="438150"/>
            <a:ext cx="38100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82750" y="476250"/>
            <a:ext cx="3619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D84D"/>
                </a:solidFill>
              </a:defRPr>
            </a:pPr>
            <a:r>
              <a:t>방치 Bit: 150  [수령!]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0" y="8096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방치 버튼: (1500,6) 400x38px, #FFD84D 테두리, 방치 Bit&gt;0일 때 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04875"/>
            <a:ext cx="18288000" cy="8477250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" y="92392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스킬 트리 영역: (0,55) 1920x890px, 스크롤+줌 가능, Anchor=Stretch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0625" y="4810125"/>
            <a:ext cx="666750" cy="666750"/>
          </a:xfrm>
          <a:prstGeom prst="roundRect">
            <a:avLst/>
          </a:prstGeom>
          <a:solidFill>
            <a:srgbClr val="2BFF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0625" y="50482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B0F1A"/>
                </a:solidFill>
              </a:defRPr>
            </a:pPr>
            <a:r>
              <a:t>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4762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Core 노드: 화면 중앙, 70x70px, 채우기=#2BFF88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8250" y="3714750"/>
            <a:ext cx="571500" cy="57150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82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2BFF88"/>
                </a:solidFill>
              </a:defRPr>
            </a:pPr>
            <a:r>
              <a:t>ATK+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8250" y="6000750"/>
            <a:ext cx="571500" cy="57150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8250" y="6143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2BFF88"/>
                </a:solidFill>
              </a:defRPr>
            </a:pPr>
            <a:r>
              <a:t>HP+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4750" y="4857750"/>
            <a:ext cx="5715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47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37B6FF"/>
                </a:solidFill>
              </a:defRPr>
            </a:pPr>
            <a:r>
              <a:t>RNG+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1750" y="4857750"/>
            <a:ext cx="5715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17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37B6FF"/>
                </a:solidFill>
              </a:defRPr>
            </a:pPr>
            <a:r>
              <a:t>SPD+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8250" y="2571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8250" y="2714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Bit+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1750" y="3714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17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CRIT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4750" y="3714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47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HEAL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525250" y="4857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52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Cannon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1250" y="4857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12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Idle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8250" y="7143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8250" y="7286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Start$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1750" y="6000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1750" y="6143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34475" y="4286250"/>
            <a:ext cx="28575" cy="523875"/>
          </a:xfrm>
          <a:prstGeom prst="rect">
            <a:avLst/>
          </a:prstGeom>
          <a:solidFill>
            <a:srgbClr val="2B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475" y="5476875"/>
            <a:ext cx="28575" cy="523875"/>
          </a:xfrm>
          <a:prstGeom prst="rect">
            <a:avLst/>
          </a:prstGeom>
          <a:solidFill>
            <a:srgbClr val="2B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5750" y="1000125"/>
            <a:ext cx="2667000" cy="15240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000" y="1076325"/>
            <a:ext cx="24765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8E4FF"/>
                </a:solidFill>
              </a:defRPr>
            </a:pPr>
            <a:r>
              <a:t>노드 상태:</a:t>
            </a:r>
          </a:p>
          <a:p>
            <a:pPr algn="l">
              <a:defRPr sz="900" b="0">
                <a:solidFill>
                  <a:srgbClr val="2BFF88"/>
                </a:solidFill>
              </a:defRPr>
            </a:pPr>
            <a:r>
              <a:t>활성: 밝은 채우기 + 발광 테두리</a:t>
            </a:r>
          </a:p>
          <a:p>
            <a:pPr algn="l">
              <a:defRPr sz="900" b="0">
                <a:solidFill>
                  <a:srgbClr val="37B6FF"/>
                </a:solidFill>
              </a:defRPr>
            </a:pPr>
            <a:r>
              <a:t>구매 가능: 깜빡이는 테두리 + 비용 표시</a:t>
            </a:r>
          </a:p>
          <a:p>
            <a:pPr algn="l">
              <a:defRPr sz="900" b="0">
                <a:solidFill>
                  <a:srgbClr val="5B6B8A"/>
                </a:solidFill>
              </a:defRPr>
            </a:pPr>
            <a:r>
              <a:t>잠김: 흐릿함, 선행 조건 필요</a:t>
            </a:r>
          </a:p>
          <a:p>
            <a:pPr algn="l">
              <a:defRPr sz="900" b="0">
                <a:solidFill>
                  <a:srgbClr val="1A243A"/>
                </a:solidFill>
              </a:defRPr>
            </a:pPr>
            <a:r>
              <a:t>숨김: 인접 노드 해금 전까지 보이지 않음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노드 크기: 60x60px, 간격: 80px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연결선: 2px, 노드와 동일 색상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429750"/>
            <a:ext cx="18288000" cy="523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25" y="92773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하단 바: (0,950) 1920x55px, 채우기=#121A2A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0500" y="9505950"/>
            <a:ext cx="2857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" y="9563100"/>
            <a:ext cx="2476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7B6FF"/>
                </a:solidFill>
              </a:defRPr>
            </a:pPr>
            <a:r>
              <a:t>스테이지 1: 데이터 스트림 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500" y="98869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스테이지 드롭다운: (20,958) 300x38px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15250" y="9477375"/>
            <a:ext cx="2857500" cy="419100"/>
          </a:xfrm>
          <a:prstGeom prst="roundRect">
            <a:avLst/>
          </a:prstGeom>
          <a:solidFill>
            <a:srgbClr val="154025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15250" y="9544050"/>
            <a:ext cx="2857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BFF88"/>
                </a:solidFill>
              </a:defRPr>
            </a:pPr>
            <a:r>
              <a:t>[ 출격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0" y="99250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출격 버튼: (810,955) 300x44px, #2BFF88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192500" y="9505950"/>
            <a:ext cx="952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192500" y="9563100"/>
            <a:ext cx="95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B6FF"/>
                </a:solidFill>
              </a:defRPr>
            </a:pPr>
            <a:r>
              <a:t>설정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240250" y="9505950"/>
            <a:ext cx="952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240250" y="9563100"/>
            <a:ext cx="95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4D5A"/>
                </a:solidFill>
              </a:defRPr>
            </a:pPr>
            <a:r>
              <a:t>종료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92500" y="98869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설정/종료: 각 100x38px, 우측 정렬, 간격=10px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58750" y="1000125"/>
            <a:ext cx="52387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명세 노트 - Hub 화면</a:t>
            </a:r>
          </a:p>
          <a:p>
            <a:pPr algn="l">
              <a:defRPr sz="600" b="0">
                <a:solidFill>
                  <a:srgbClr val="AFC3E8"/>
                </a:solidFill>
              </a:defRPr>
            </a:pP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구조: 상단 바 (50px) + 스킬 트리 (나머지) + 하단 바 (55px)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스킬 트리: 이동=우클릭 드래그, 줌=스크롤 휠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노드 클릭 -&gt; 구매 팝업 (슬라이드 5 참조)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진행도 표시: 트리 영역 우측 상단에 '해금: 12/45'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Anchor: 상단 바=Top-Stretch, 하단 바=Bottom-Stretch, 트리=Stretch-All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3: 인게임 화면 (런 진행 중)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47625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238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HUD 바: (0,0) 1920x50px, 채우기=#121A2A, Anchor=Top-Stretch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웨이브: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8763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웨이브: (30,8) 200x35px, 18pt 굵게, #D8E4FF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BFF88"/>
                </a:solidFill>
              </a:defRPr>
            </a:pPr>
            <a:r>
              <a:t>Bit: 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0" y="8763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Bit: (300,8) 200x35px, 18pt 굵게, #2BFF88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0" y="457200"/>
            <a:ext cx="1143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기지 HP: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15500" y="504825"/>
            <a:ext cx="3810000" cy="228600"/>
          </a:xfrm>
          <a:prstGeom prst="rect">
            <a:avLst/>
          </a:prstGeom>
          <a:solidFill>
            <a:srgbClr val="331111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34550" y="523875"/>
            <a:ext cx="3009900" cy="190500"/>
          </a:xfrm>
          <a:prstGeom prst="rect">
            <a:avLst/>
          </a:prstGeom>
          <a:solidFill>
            <a:srgbClr val="44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0" y="514350"/>
            <a:ext cx="381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16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8763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HP 바: (1020,13) 400x24px, HP 비율에 비례하여 채움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0" y="457200"/>
            <a:ext cx="428625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4D5A"/>
                </a:solidFill>
              </a:defRPr>
            </a:pPr>
            <a:r>
              <a:t>&lt; HP &lt; 30%: 화면 가장자리 붉게 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04875"/>
            <a:ext cx="18288000" cy="8096250"/>
          </a:xfrm>
          <a:prstGeom prst="rect">
            <a:avLst/>
          </a:prstGeom>
          <a:solidFill>
            <a:srgbClr val="080C16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" y="92392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게임 맵: (0,55) 1920x850px, Stretch-All, 격자 오버레이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3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1666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05000" y="2428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05000" y="3190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952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05000" y="4714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5000" y="151447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격자: 80x80px 셀, #1A243A 선, 1px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14625" y="2476500"/>
            <a:ext cx="666750" cy="66675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4625" y="2619375"/>
            <a:ext cx="666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BFF88"/>
                </a:solidFill>
              </a:defRPr>
            </a:pPr>
            <a:r>
              <a:t>Arrow</a:t>
            </a:r>
            <a:br/>
            <a:r>
              <a:t>Lv1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8050" y="2447925"/>
            <a:ext cx="723900" cy="723900"/>
          </a:xfrm>
          <a:prstGeom prst="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6625" y="266700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2BFF88"/>
                </a:solidFill>
              </a:defRPr>
            </a:pPr>
            <a:r>
              <a:t>빈칸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0" y="4238625"/>
            <a:ext cx="4762500" cy="76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[ Node 경로 ]</a:t>
            </a:r>
            <a:br/>
            <a:r>
              <a:t>(Node가 이 경로를 따라 기지로 이동)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240000" y="4524375"/>
            <a:ext cx="762000" cy="7620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240000" y="4714875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7B6FF"/>
                </a:solidFill>
              </a:defRPr>
            </a:pPr>
            <a:r>
              <a:t>기지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500" y="4524375"/>
            <a:ext cx="762000" cy="7620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0" y="4714875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4D5A"/>
                </a:solidFill>
              </a:defRPr>
            </a:pPr>
            <a:r>
              <a:t>스폰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9048750"/>
            <a:ext cx="18288000" cy="904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25" y="890587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하단 바: (0,910) 1920x95px, Anchor=Bottom-Stretch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0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Arrow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2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Arrow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14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4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Cannon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500" y="997267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인벤토리 슬롯: 각 70x70px, 간격=10px, Anchor=Bottom-Left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6500" y="9163050"/>
            <a:ext cx="666750" cy="666750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76500" y="9305925"/>
            <a:ext cx="666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D84D"/>
                </a:solidFill>
              </a:defRPr>
            </a:pPr>
            <a:r>
              <a:t>+ 구매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76500" y="9972675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+구매: (260,922) 70x70px, #FFD84D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287500" y="9163050"/>
            <a:ext cx="571500" cy="333375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28750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x1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95425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5425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5B6B8A"/>
                </a:solidFill>
              </a:defRPr>
            </a:pPr>
            <a:r>
              <a:t>x2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62100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62100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5B6B8A"/>
                </a:solidFill>
              </a:defRPr>
            </a:pPr>
            <a:r>
              <a:t>x3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28775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28775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9A3D"/>
                </a:solidFill>
              </a:defRPr>
            </a:pPr>
            <a:r>
              <a:t>| |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287500" y="95440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속도 버튼: 60x35px, 간격=10px | 일시정지: 60x35px, Anchor=Bottom-Right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9210675"/>
            <a:ext cx="4762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FC3E8"/>
                </a:solidFill>
              </a:defRPr>
            </a:pPr>
            <a:r>
              <a:t>인벤토리에서 맵 격자로 드래그하여 배치.</a:t>
            </a:r>
            <a:br/>
            <a:r>
              <a:t>같은 타워 위에 드래그하면 합성 (레벨 업).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35000" y="1000125"/>
            <a:ext cx="4762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명세 노트 - 인게임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HUD 바: 고정 50px, 항상 표시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맵: HUD와 하단 바 사이 나머지 공간 채움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격자 셀: 80x80px (조정 가능), 내부에 타워 스프라이트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인벤토리: 타워 6개 초과 시 가로 스크롤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드래그 피드백: 초록=배치 가능, 빨강=불가, 노랑=합성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웨이브 클리어: 0.2초 전체화면 플래시, 중앙에 '웨이브 클리어' 텍스트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571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4: 런 종료 패널 (패배 / 스테이지 클리어)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9906000"/>
          </a:xfrm>
          <a:prstGeom prst="rect">
            <a:avLst/>
          </a:prstGeom>
          <a:solidFill>
            <a:srgbClr val="050812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4000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오버레이: 전체 화면, #050812 80% 불투명도 (반투명)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714500"/>
            <a:ext cx="7620000" cy="666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5621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패배 패널: (60,140) 800x700px, 화면 중앙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905000"/>
            <a:ext cx="7620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4D5A"/>
                </a:solidFill>
              </a:defRPr>
            </a:pPr>
            <a:r>
              <a:t>패배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9125" y="19050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제목: 36pt 굵게, #FF4D5A, 상단여백=20px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6670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도달 웨이브: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26670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1432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처치 Node: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1432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6195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획득 Bit: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36195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+185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40957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획득 타워: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0" y="40957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[Arrow] [Cannon]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26670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통계: 16pt, 행 간격=50px, 좌측=#AFC3E8, 우측=#D8E4FF 굵게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35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5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7B6FF"/>
                </a:solidFill>
              </a:defRPr>
            </a:pPr>
            <a:r>
              <a:t>[ Hub (스킬 트리)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BFF88"/>
                </a:solidFill>
              </a:defRPr>
            </a:pPr>
            <a:r>
              <a:t>[ 즉시 재도전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78105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버튼: 각 280x55px, 간격=60px, 하단여백=65px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5500" y="1714500"/>
            <a:ext cx="7620000" cy="666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500" y="15621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클리어 패널: 동일 크기 800x700px, #2BFF88 테두리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1905000"/>
            <a:ext cx="7620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BFF88"/>
                </a:solidFill>
              </a:defRPr>
            </a:pPr>
            <a:r>
              <a:t>스테이지 클리어!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0" y="2428875"/>
            <a:ext cx="762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스테이지 1: 데이터 스트림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29527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획득 Bit: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25500" y="29527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+230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34290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획득 Core: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25500" y="34290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B86CFF"/>
                </a:solidFill>
              </a:defRPr>
            </a:pPr>
            <a:r>
              <a:t>+2  (신규!)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39052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획득 타워: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25500" y="39052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[Arrow] [Arrow] [Ice]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7000" y="4667250"/>
            <a:ext cx="6477000" cy="762000"/>
          </a:xfrm>
          <a:prstGeom prst="rect">
            <a:avLst/>
          </a:prstGeom>
          <a:solidFill>
            <a:srgbClr val="152035"/>
          </a:solidFill>
          <a:ln w="127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4743450"/>
            <a:ext cx="6477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D84D"/>
                </a:solidFill>
              </a:defRPr>
            </a:pPr>
            <a:r>
              <a:t>새 스테이지 해금!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5029200"/>
            <a:ext cx="6477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8E4FF"/>
                </a:solidFill>
              </a:defRPr>
            </a:pPr>
            <a:r>
              <a:t>스테이지 2: 메모리 블록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775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75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7B6FF"/>
                </a:solidFill>
              </a:defRPr>
            </a:pPr>
            <a:r>
              <a:t>[ Hub 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BFF88"/>
                </a:solidFill>
              </a:defRPr>
            </a:pPr>
            <a:r>
              <a:t>[ 다음 스테이지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8667750"/>
            <a:ext cx="47625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명세 노트 - 런 종료 패널</a:t>
            </a:r>
          </a:p>
          <a:p>
            <a:pPr algn="l">
              <a:defRPr sz="600" b="0">
                <a:solidFill>
                  <a:srgbClr val="AFC3E8"/>
                </a:solidFill>
              </a:defRPr>
            </a:pP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두 패널 모두: 화면 중앙 (한 번에 하나만 표시)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패널 크기: 800x700px, Anchor=Center-Center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오버레이: 전체 화면 검정 80% 불투명도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애니메이션: 패널이 하단에서 0.3초간 슬라이드 업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Core의 '신규!' 라벨: 깜빡이는 애니메이션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통계의 타워 아이콘: 50x50px 인라인 스프라이트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패배=빨간 테마 | 클리어=초록 테마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5: 팝업 및 툴팁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571500"/>
            <a:ext cx="3619500" cy="3238500"/>
          </a:xfrm>
          <a:prstGeom prst="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스킬 구매 팝업: 380x340px, 열릴 때 화면 중앙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14375"/>
            <a:ext cx="3238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BFF88"/>
                </a:solidFill>
              </a:defRPr>
            </a:pPr>
            <a:r>
              <a:t>공격력  Lv3 -&gt; Lv4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95375"/>
            <a:ext cx="3238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190625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8E4FF"/>
                </a:solidFill>
              </a:defRPr>
            </a:pPr>
            <a:r>
              <a:t>효과: 타워 피해량 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524000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FC3E8"/>
                </a:solidFill>
              </a:defRPr>
            </a:pPr>
            <a:r>
              <a:t>현재: x1.3  -&gt;  x1.4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52625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84D"/>
                </a:solidFill>
              </a:defRPr>
            </a:pPr>
            <a:r>
              <a:t>비용: 110 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2476500"/>
            <a:ext cx="2476500" cy="47625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571750"/>
            <a:ext cx="2476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BFF88"/>
                </a:solidFill>
              </a:defRPr>
            </a:pPr>
            <a:r>
              <a:t>[ 구매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666750"/>
            <a:ext cx="285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3905250"/>
            <a:ext cx="36195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스킬 구매 팝업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크기: 380x340px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Anchor: Center-Center (오버레이)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제목: 16pt 굵게 #2BFF88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효과/변경 전후: 13pt #D8E4FF/#AFC3E8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비용: 15pt 굵게 #FFD84D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구매 버튼: 260x50px, 하단 중앙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닫기 X: 30x25px, 우측 상단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자금 부족 시: 비용 텍스트가 #FF4D5A로 변경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최대 레벨: 버튼 비활성화, '최대' 텍스트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0" y="571500"/>
            <a:ext cx="3333750" cy="285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타워 툴팁: 350x300px, 타워 호버/클릭 시 인접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714375"/>
            <a:ext cx="2952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7B6FF"/>
                </a:solidFill>
              </a:defRPr>
            </a:pPr>
            <a:r>
              <a:t>Arrow 타워  Lv2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0" y="1047750"/>
            <a:ext cx="295275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0" y="11430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피해량: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11430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14478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공격 속도: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14478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0.7초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3000" y="17526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사거리: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17526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3000" y="20574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DPS: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0574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17.1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0" y="2428875"/>
            <a:ext cx="2952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특수: 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0" y="2809875"/>
            <a:ext cx="2952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9A3D"/>
                </a:solidFill>
              </a:defRPr>
            </a:pPr>
            <a:r>
              <a:t>판매: 17 Bit (70%)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0" y="3524250"/>
            <a:ext cx="3333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타워 툴팁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크기: 350x300px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위치: 타워 인접, 화면 가장자리 회피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스탯: 12pt, 라벨=#AFC3E8, 값=#D8E4FF 굵게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판매 가격: 11pt #FF9A3D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표시 조건: 타워 클릭 (모바일/데스크톱)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8750" y="571500"/>
            <a:ext cx="3810000" cy="285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875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설정 팝업: 400x300px, 화면 중앙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0" y="714375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8E4FF"/>
                </a:solidFill>
              </a:defRPr>
            </a:pPr>
            <a:r>
              <a:t>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34500" y="1095375"/>
            <a:ext cx="3238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500" y="1285875"/>
            <a:ext cx="952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BGM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7000" y="1352550"/>
            <a:ext cx="2095500" cy="76200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87000" y="1352550"/>
            <a:ext cx="1466850" cy="76200"/>
          </a:xfrm>
          <a:prstGeom prst="rect">
            <a:avLst/>
          </a:prstGeom>
          <a:solidFill>
            <a:srgbClr val="3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715750" y="1295400"/>
            <a:ext cx="1524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87250" y="1285875"/>
            <a:ext cx="381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4500" y="1762125"/>
            <a:ext cx="952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SFX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1828800"/>
            <a:ext cx="2095500" cy="76200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87000" y="1828800"/>
            <a:ext cx="1885950" cy="76200"/>
          </a:xfrm>
          <a:prstGeom prst="rect">
            <a:avLst/>
          </a:prstGeom>
          <a:solidFill>
            <a:srgbClr val="3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134850" y="1771650"/>
            <a:ext cx="1524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87250" y="1762125"/>
            <a:ext cx="381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90%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1750" y="2762250"/>
            <a:ext cx="1524000" cy="42862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1750" y="2857500"/>
            <a:ext cx="1524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8E4FF"/>
                </a:solidFill>
              </a:defRPr>
            </a:pPr>
            <a:r>
              <a:t>[ 닫기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750" y="666750"/>
            <a:ext cx="285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3524250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설정 팝업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크기: 400x300px, Center-Center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슬라이더 트랙: 220x8px, #1A243A 배경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슬라이더 채움: #37B6FF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슬라이더 핸들: 16x20px, 흰색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닫기 버튼: 160x45px, 하단 중앙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811250" y="571500"/>
            <a:ext cx="4000500" cy="2381250"/>
          </a:xfrm>
          <a:prstGeom prst="rect">
            <a:avLst/>
          </a:prstGeom>
          <a:solidFill>
            <a:srgbClr val="121A2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81125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방치 수령 팝업: 420x250px, 화면 중앙 또는 상단 중앙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11250" y="762000"/>
            <a:ext cx="4000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D84D"/>
                </a:solidFill>
              </a:defRPr>
            </a:pPr>
            <a:r>
              <a:t>방치 보상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97000" y="1143000"/>
            <a:ext cx="34290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811250" y="1333500"/>
            <a:ext cx="4000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BFF88"/>
                </a:solidFill>
              </a:defRPr>
            </a:pPr>
            <a:r>
              <a:t>+150 Bit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11250" y="1714500"/>
            <a:ext cx="4000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FC3E8"/>
                </a:solidFill>
              </a:defRPr>
            </a:pPr>
            <a:r>
              <a:t>부재 시간 1시간 30분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763750" y="2190750"/>
            <a:ext cx="2095500" cy="476250"/>
          </a:xfrm>
          <a:prstGeom prst="roundRect">
            <a:avLst/>
          </a:prstGeom>
          <a:solidFill>
            <a:srgbClr val="302810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63750" y="2286000"/>
            <a:ext cx="2095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D84D"/>
                </a:solidFill>
              </a:defRPr>
            </a:pPr>
            <a:r>
              <a:t>[ 수령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11250" y="3048000"/>
            <a:ext cx="4000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방치 수령 팝업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크기: 420x250px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표시: Hub 진입 시 방치 Bit &gt; 0이면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Bit 금액: 28pt 굵게 #2BFF88, 카운트업 애니메이션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수령 버튼: 220x50px, #FFD84D 테두리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자동 닫힘: 수령 후, +Bit 팝업이 위로 떠오름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62500" y="6477000"/>
            <a:ext cx="4762500" cy="3238500"/>
          </a:xfrm>
          <a:prstGeom prst="rect">
            <a:avLst/>
          </a:prstGeom>
          <a:solidFill>
            <a:srgbClr val="121A2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2500" y="6334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타워 구매 패널: 500x340px, 인게임 +구매 버튼 위에 표시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62500" y="6572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D84D"/>
                </a:solidFill>
              </a:defRPr>
            </a:pPr>
            <a:r>
              <a:t>타워 구매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3000" y="6905625"/>
            <a:ext cx="4381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48250" y="7000875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8750" y="7115175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Arrow 타워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05750" y="7077075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5750" y="7134225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30 Bit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48250" y="7620000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38750" y="7734300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Cannon 타워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05750" y="7696200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05750" y="7753350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60 Bit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48250" y="8239125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8750" y="8353425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Ice 타워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05750" y="8315325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05750" y="8372475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45 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15500" y="6477000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타워 구매 패널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크기: 500x340px (타워 추가 시 확장)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위치: +구매 버튼 위, Anchor=Bottom-Left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스킬 트리에서 해금된 타워만 표시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각 행: 높이 55px, 타워 아이콘 + 이름 + 비용 버튼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잠긴 타워: 회색 처리 + 잠금 아이콘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666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슬라이드 6: 색상 팔레트 및 타이포그래피 참조 (네온 회로판 테마)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7625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색상 팔레트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57250"/>
            <a:ext cx="1714500" cy="523875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6250" y="933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#0B0F1A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123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어두운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9715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메인 배경, 게임 영역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476375"/>
            <a:ext cx="1714500" cy="523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" y="1552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#121A2A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743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패널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15906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패널/카드 배경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2095500"/>
            <a:ext cx="1714500" cy="523875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" y="21717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#1A243A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23622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밝은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22098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호버 상태, 밝은 패널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2714625"/>
            <a:ext cx="1714500" cy="523875"/>
          </a:xfrm>
          <a:prstGeom prst="rect">
            <a:avLst/>
          </a:prstGeom>
          <a:solidFill>
            <a:srgbClr val="5B6B8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250" y="27908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#5B6B8A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9813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테두리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282892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기본 테두리, 구분선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00" y="3333750"/>
            <a:ext cx="1714500" cy="523875"/>
          </a:xfrm>
          <a:prstGeom prst="rect">
            <a:avLst/>
          </a:prstGeom>
          <a:solidFill>
            <a:srgbClr val="D8E4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250" y="3409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#D8E4FF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3600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기본 텍스트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34480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기본 텍스트, 제목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3952875"/>
            <a:ext cx="1714500" cy="523875"/>
          </a:xfrm>
          <a:prstGeom prst="rect">
            <a:avLst/>
          </a:prstGeom>
          <a:solidFill>
            <a:srgbClr val="AFC3E8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250" y="4029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#AFC3E8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" y="4219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보조 텍스트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0671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보조 텍스트, 라벨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0" y="857250"/>
            <a:ext cx="1714500" cy="523875"/>
          </a:xfrm>
          <a:prstGeom prst="rect">
            <a:avLst/>
          </a:prstGeom>
          <a:solidFill>
            <a:srgbClr val="2BFF88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8750" y="933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#2BFF88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8750" y="1123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네온 초록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3250" y="9715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기본 강조, 활성, 성공, HP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3500" y="1476375"/>
            <a:ext cx="1714500" cy="523875"/>
          </a:xfrm>
          <a:prstGeom prst="rect">
            <a:avLst/>
          </a:prstGeom>
          <a:solidFill>
            <a:srgbClr val="37B6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48750" y="1552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#37B6FF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0" y="1743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네온 파랑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0" y="15906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보조 강조, 정보, 링크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3500" y="2095500"/>
            <a:ext cx="1714500" cy="523875"/>
          </a:xfrm>
          <a:prstGeom prst="rect">
            <a:avLst/>
          </a:prstGeom>
          <a:solidFill>
            <a:srgbClr val="B86C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8750" y="21717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#B86CFF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0" y="23622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네온 보라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63250" y="22098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Core 자원, 프리미엄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3500" y="2714625"/>
            <a:ext cx="1714500" cy="523875"/>
          </a:xfrm>
          <a:prstGeom prst="rect">
            <a:avLst/>
          </a:prstGeom>
          <a:solidFill>
            <a:srgbClr val="FF9A3D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48750" y="27908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#FF9A3D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8750" y="29813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주황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63250" y="282892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경고, 하이라이트, 판매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3500" y="3333750"/>
            <a:ext cx="1714500" cy="523875"/>
          </a:xfrm>
          <a:prstGeom prst="rect">
            <a:avLst/>
          </a:prstGeom>
          <a:solidFill>
            <a:srgbClr val="FF4D5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8750" y="3409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#FF4D5A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3600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빨강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63250" y="34480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경보, 위험, 패배, HP 부족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53500" y="3952875"/>
            <a:ext cx="1714500" cy="523875"/>
          </a:xfrm>
          <a:prstGeom prst="rect">
            <a:avLst/>
          </a:prstGeom>
          <a:solidFill>
            <a:srgbClr val="FFD84D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8750" y="4029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#FFD84D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4219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노랑/금색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63250" y="40671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희귀, 방치 보상, 구매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" y="476250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타이포그래피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50958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48pt 굵게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0958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게임 제목 (타이틀 화면)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4006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36pt 굵게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54006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주요 제목 (패배, 스테이지 클리어)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57054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20pt 굵게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7054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팝업 제목 (설정, 방치 보상)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60102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18pt 굵게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60102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HUD 값 (웨이브, Bit, HP)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63150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16pt 굵게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63150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소제목, 버튼 텍스트, 스탯 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" y="66198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14pt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66198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본문 텍스트, 스탯 라벨, 설명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" y="69246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8E4FF"/>
                </a:solidFill>
              </a:defRPr>
            </a:pPr>
            <a:r>
              <a:t>12pt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69246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작은 라벨, 드롭다운 텍스트, 슬라이더 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72294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8E4FF"/>
                </a:solidFill>
              </a:defRPr>
            </a:pPr>
            <a:r>
              <a:t>10pt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0" y="72294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주석, 툴팁, 보조 정보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" y="75342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D8E4FF"/>
                </a:solidFill>
              </a:defRPr>
            </a:pPr>
            <a:r>
              <a:t>8pt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75342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명세 노트, 치수 라벨 (개발 전용)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476250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표준 요소 크기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34500" y="50958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버튼 (대): 300x55px, 테두리=2px, 라운드=8px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4500" y="53435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버튼 (중): 160x45px, 테두리=1px, 라운드=6px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34500" y="55911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버튼 (소): 100x38px, 테두리=1px, 라운드=4px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34500" y="58388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속도 버튼: 60x35px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34500" y="60864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타워 슬롯: 70x70px, 간격=10px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34500" y="63341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스킬 트리 노드: 60x60px, 중심 간격=80px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34500" y="65817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격자 셀: 80x80px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34500" y="68294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HP 바: 400x24px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34500" y="70770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슬라이더 트랙: 220x8px, 핸들=16x20px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34500" y="73247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상단/하단 바: 전체 너비 x 50~55px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34500" y="75723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팝업 안쪽 여백: 사방 20~30px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4500" y="78200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패널 테두리: 1~2px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000" y="8286750"/>
            <a:ext cx="571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Unity RectTransform Anchor 참조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00" y="85725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배경/오버레이: Stretch-Stretch (모든 가장자리 = 0)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" y="87820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상단 바: Top-Stretch (left=0, right=0, top=0, height=50)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89916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하단 바: Bottom-Stretch (left=0, right=0, bottom=0, height=55)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92011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중앙 패널 (팝업): Center-Center, Pivot=(0.5, 0.5)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1500" y="94107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HUD 요소: Top-Left 또는 Top-Right + 오프셋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71500" y="96202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인벤토리 슬롯: Bottom-Left, 가로 배치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1500" y="98298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속도/일시정지: Bottom-Right, 가로 배치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1500" y="100393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스킬 트리 뷰포트: Stretch-All + ScrollRect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