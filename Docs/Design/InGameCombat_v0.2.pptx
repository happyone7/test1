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5750" y="285750"/>
            <a:ext cx="17716500" cy="9715500"/>
          </a:xfrm>
          <a:prstGeom prst="rect">
            <a:avLst/>
          </a:prstGeom>
          <a:noFill/>
          <a:ln w="381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8625" y="428625"/>
            <a:ext cx="17430750" cy="9429750"/>
          </a:xfrm>
          <a:prstGeom prst="rect">
            <a:avLst/>
          </a:prstGeom>
          <a:noFill/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57500" y="2381250"/>
            <a:ext cx="12573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76500" y="2667000"/>
            <a:ext cx="13335000" cy="952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FFD84D"/>
                </a:solidFill>
              </a:defRPr>
            </a:pPr>
            <a:r>
              <a:t>SOULSPIRE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6500" y="3714750"/>
            <a:ext cx="13335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8E4F0"/>
                </a:solidFill>
              </a:defRPr>
            </a:pPr>
            <a:r>
              <a:t>인게임 전투 시스템 기획서 v0.2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0" y="4476750"/>
            <a:ext cx="12573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0" y="4857750"/>
            <a:ext cx="762000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9890"/>
                </a:solidFill>
              </a:defRPr>
            </a:pPr>
          </a:p>
          <a:p>
            <a:pPr algn="ctr">
              <a:defRPr sz="1400" b="0">
                <a:solidFill>
                  <a:srgbClr val="A09890"/>
                </a:solidFill>
              </a:defRPr>
            </a:pPr>
            <a:r>
              <a:t>장르: 다크 판타지 타워 디펜스 (로그라이트)</a:t>
            </a:r>
          </a:p>
          <a:p>
            <a:pPr algn="ctr">
              <a:defRPr sz="1400" b="0">
                <a:solidFill>
                  <a:srgbClr val="A09890"/>
                </a:solidFill>
              </a:defRPr>
            </a:pPr>
            <a:r>
              <a:t>대상 독자: 프로그래밍팀장, QA팀장</a:t>
            </a:r>
          </a:p>
          <a:p>
            <a:pPr algn="ctr">
              <a:defRPr sz="1400" b="0">
                <a:solidFill>
                  <a:srgbClr val="A09890"/>
                </a:solidFill>
              </a:defRPr>
            </a:pPr>
            <a:r>
              <a:t>최종 수정: 2026-02-15</a:t>
            </a:r>
          </a:p>
          <a:p>
            <a:pPr algn="ctr">
              <a:defRPr sz="1400" b="0">
                <a:solidFill>
                  <a:srgbClr val="A09890"/>
                </a:solidFill>
              </a:defRPr>
            </a:pPr>
            <a:r>
              <a:t>작성자: 기획팀장 (Game Designer)</a:t>
            </a:r>
          </a:p>
          <a:p>
            <a:pPr algn="ctr">
              <a:defRPr sz="1400" b="0">
                <a:solidFill>
                  <a:srgbClr val="A09890"/>
                </a:solidFill>
              </a:defRPr>
            </a:pPr>
            <a:r>
              <a:t>상태: 총괄PD 피드백 반영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7620000"/>
            <a:ext cx="685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0" y="7715250"/>
            <a:ext cx="762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070"/>
                </a:solidFill>
              </a:defRPr>
            </a:pPr>
            <a:r>
              <a:t>Dark Fantasy  ·  Pixel Art  ·  3/4 Quarter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1. 런 플로우 (상태 전환)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1905000" cy="6667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00250"/>
            <a:ext cx="1905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080D4"/>
                </a:solidFill>
              </a:defRPr>
            </a:pPr>
            <a:r>
              <a:t>Hub (성소)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66950"/>
            <a:ext cx="1905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9890"/>
                </a:solidFill>
              </a:defRPr>
            </a:pPr>
            <a:r>
              <a:t>스킬 트리 / 보물상자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7000" y="2219325"/>
            <a:ext cx="7620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1857375"/>
            <a:ext cx="66675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A080"/>
                </a:solidFill>
              </a:defRPr>
            </a:pPr>
            <a:r>
              <a:t>출격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05000"/>
            <a:ext cx="1905000" cy="6667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000250"/>
            <a:ext cx="1905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0D470"/>
                </a:solidFill>
              </a:defRPr>
            </a:pPr>
            <a:r>
              <a:t>InGame: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66950"/>
            <a:ext cx="1905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9890"/>
                </a:solidFill>
              </a:defRPr>
            </a:pPr>
            <a:r>
              <a:t>기지HP초기화/타워복원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0" y="2219325"/>
            <a:ext cx="7620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96000" y="1905000"/>
            <a:ext cx="2286000" cy="6667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0" y="2000250"/>
            <a:ext cx="2286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08030"/>
                </a:solidFill>
              </a:defRPr>
            </a:pPr>
            <a:r>
              <a:t>InGame: 전투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266950"/>
            <a:ext cx="2286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9890"/>
                </a:solidFill>
              </a:defRPr>
            </a:pPr>
            <a:r>
              <a:t>웨이브 스폰 / 타워 공격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0" y="2095500"/>
            <a:ext cx="1143000" cy="28575"/>
          </a:xfrm>
          <a:prstGeom prst="rect">
            <a:avLst/>
          </a:prstGeom>
          <a:solidFill>
            <a:srgbClr val="40D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9625" y="1924050"/>
            <a:ext cx="10477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최종웨이브 클리어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5000" y="1714500"/>
            <a:ext cx="2286000" cy="6667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0" y="1809750"/>
            <a:ext cx="2286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0D470"/>
                </a:solidFill>
              </a:defRPr>
            </a:pPr>
            <a:r>
              <a:t>RunEnd: 승리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0" y="2076450"/>
            <a:ext cx="2286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9890"/>
                </a:solidFill>
              </a:defRPr>
            </a:pPr>
            <a:r>
              <a:t>Bit+Core 정산/다음스테이지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9000" y="2571750"/>
            <a:ext cx="28575" cy="5715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4250" y="26670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D44040"/>
                </a:solidFill>
              </a:defRPr>
            </a:pPr>
            <a:r>
              <a:t>기지 HP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3457575"/>
            <a:ext cx="2286000" cy="28575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25000" y="3143250"/>
            <a:ext cx="2286000" cy="6667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5000" y="3238500"/>
            <a:ext cx="2286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D44040"/>
                </a:solidFill>
              </a:defRPr>
            </a:pPr>
            <a:r>
              <a:t>RunEnd: 패배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0" y="3505200"/>
            <a:ext cx="2286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9890"/>
                </a:solidFill>
              </a:defRPr>
            </a:pPr>
            <a:r>
              <a:t>Bit 정산 / 재도전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11000" y="2047875"/>
            <a:ext cx="11430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11000" y="3476625"/>
            <a:ext cx="11430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954000" y="2286000"/>
            <a:ext cx="1524000" cy="476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54000" y="2381250"/>
            <a:ext cx="1524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080D4"/>
                </a:solidFill>
              </a:defRPr>
            </a:pPr>
            <a:r>
              <a:t>Hub 복귀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0" y="2047875"/>
            <a:ext cx="28575" cy="2571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716000" y="2762250"/>
            <a:ext cx="28575" cy="7143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954000" y="3476625"/>
            <a:ext cx="7620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" y="4381500"/>
            <a:ext cx="571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8E4F0"/>
                </a:solidFill>
              </a:defRPr>
            </a:pPr>
            <a:r>
              <a:t>웨이브 진행 루프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4714875"/>
            <a:ext cx="28575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2000" y="5048250"/>
            <a:ext cx="1809750" cy="52387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000" y="5172075"/>
            <a:ext cx="1809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E08030"/>
                </a:solidFill>
              </a:defRPr>
            </a:pPr>
            <a:r>
              <a:t>웨이브 N 스폰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38500" y="5048250"/>
            <a:ext cx="1809750" cy="52387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8500" y="5172075"/>
            <a:ext cx="1809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40D470"/>
                </a:solidFill>
              </a:defRPr>
            </a:pPr>
            <a:r>
              <a:t>모든 Node 처리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5048250"/>
            <a:ext cx="1809750" cy="52387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5172075"/>
            <a:ext cx="1809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D84D"/>
                </a:solidFill>
              </a:defRPr>
            </a:pPr>
            <a:r>
              <a:t>웨이브 클리어 판정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91500" y="5048250"/>
            <a:ext cx="1809750" cy="52387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1500" y="5172075"/>
            <a:ext cx="1809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4080D4"/>
                </a:solidFill>
              </a:defRPr>
            </a:pPr>
            <a:r>
              <a:t>다음 웨이브 대기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71750" y="5295900"/>
            <a:ext cx="66675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48250" y="5295900"/>
            <a:ext cx="66675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24750" y="5295900"/>
            <a:ext cx="66675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01250" y="5295900"/>
            <a:ext cx="47625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48925" y="5295900"/>
            <a:ext cx="28575" cy="57150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2000" y="5838825"/>
            <a:ext cx="97155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2000" y="5295900"/>
            <a:ext cx="28575" cy="57150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71500" y="6477000"/>
            <a:ext cx="6667500" cy="1238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4375" y="6572250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첫 런 특수 처리 (FTUE)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4375" y="6858000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0" y="6953250"/>
            <a:ext cx="6286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• 게임 최초 시작 시 Hub 스킵 → 바로 스테이지 1 진입</a:t>
            </a:r>
          </a:p>
          <a:p>
            <a:pPr algn="l">
              <a:defRPr sz="1200" b="0">
                <a:solidFill>
                  <a:srgbClr val="E0DCD0"/>
                </a:solidFill>
              </a:defRPr>
            </a:pPr>
            <a:r>
              <a:t>• Arrow Tower 1기가 맵 정가운데 자동 배치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• 웨이브 1 시작 전 3초 딜레이 (맵 확인 시간)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20000" y="6477000"/>
            <a:ext cx="6667500" cy="1238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62875" y="6572250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런 종료 조건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2875" y="6858000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0500" y="6953250"/>
            <a:ext cx="6286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4040"/>
                </a:solidFill>
              </a:defRPr>
            </a:pPr>
            <a:r>
              <a:t>패배: 기지 HP 0 → 남은 Node 페이드아웃 → 보상 정산</a:t>
            </a:r>
          </a:p>
          <a:p>
            <a:pPr algn="l">
              <a:defRPr sz="1200" b="0">
                <a:solidFill>
                  <a:srgbClr val="40D470"/>
                </a:solidFill>
              </a:defRPr>
            </a:pPr>
            <a:r>
              <a:t>승리: 최종 웨이브 클리어 → 클리어 연출 1.5초 → Core 획득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공통: 타워 배치 SaveData 저장 (크래시 대비 즉시 저장)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1500" y="8001000"/>
            <a:ext cx="13716000" cy="952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4375" y="8096250"/>
            <a:ext cx="13430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RunEnd 패널 버튼 동작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4375" y="8382000"/>
            <a:ext cx="13430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000" y="8458200"/>
            <a:ext cx="1333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패배 → Hub 버튼: GoToHub() | 재도전 버튼: StartRun(같은 스테이지)</a:t>
            </a:r>
          </a:p>
          <a:p>
            <a:pPr algn="l">
              <a:defRPr sz="1200" b="0">
                <a:solidFill>
                  <a:srgbClr val="E0DCD0"/>
                </a:solidFill>
              </a:defRPr>
            </a:pPr>
            <a:r>
              <a:t>승리 → Hub 버튼: GoToHub() | 다음 스테이지 버튼: StartRun(다음 스테이지)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2. 타워 배치 / 합성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952500"/>
            <a:ext cx="5524500" cy="38100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4375" y="1047750"/>
            <a:ext cx="5238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격자 기반 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375" y="1333500"/>
            <a:ext cx="5238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5875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4500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43125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1750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00375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57625" y="15240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19526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5875" y="195262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5875" y="206692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500" y="195262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4500" y="206692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3125" y="195262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3125" y="206692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195262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1750" y="206692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00375" y="195262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00375" y="206692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195262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06692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7625" y="19526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7250" y="238125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5875" y="238125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5875" y="249555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4500" y="238125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14500" y="249555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3125" y="2381250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3125" y="249555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71750" y="238125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71750" y="249555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00375" y="238125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00375" y="249555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2381250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249555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7625" y="238125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7250" y="280987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85875" y="280987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5875" y="292417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500" y="280987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14500" y="292417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3125" y="280987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3125" y="292417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71750" y="280987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71750" y="292417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00375" y="280987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00375" y="292417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29000" y="2809875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29000" y="2924175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57625" y="280987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7250" y="32385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5875" y="323850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85875" y="335280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14500" y="3238500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14500" y="335280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43125" y="323850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43125" y="335280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71750" y="323850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1750" y="335280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00375" y="3238500"/>
            <a:ext cx="419100" cy="41910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00375" y="335280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29000" y="3238500"/>
            <a:ext cx="419100" cy="419100"/>
          </a:xfrm>
          <a:prstGeom prst="rect">
            <a:avLst/>
          </a:prstGeom>
          <a:solidFill>
            <a:srgbClr val="152518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29000" y="3352800"/>
            <a:ext cx="4191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57625" y="3238500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7250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85875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14500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143125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71750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00375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429000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857625" y="3667125"/>
            <a:ext cx="419100" cy="41910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7250" y="4191000"/>
            <a:ext cx="2857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070"/>
                </a:solidFill>
              </a:defRPr>
            </a:pPr>
            <a:r>
              <a:t>W = 벽 (배치 불가)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7250" y="4400550"/>
            <a:ext cx="2857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09890"/>
                </a:solidFill>
              </a:defRPr>
            </a:pPr>
            <a:r>
              <a:t>P = 경로 (Node 이동)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" y="4610100"/>
            <a:ext cx="2857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0D470"/>
                </a:solidFill>
              </a:defRPr>
            </a:pPr>
            <a:r>
              <a:t>T = 배치 가능 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250" y="4905375"/>
            <a:ext cx="50482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9890"/>
                </a:solidFill>
              </a:defRPr>
            </a:pPr>
            <a:r>
              <a:t>타일 크기: 1x1 Unity Unit (32x32px, PPU 32)</a:t>
            </a:r>
          </a:p>
          <a:p>
            <a:pPr algn="l">
              <a:defRPr sz="1000" b="0">
                <a:solidFill>
                  <a:srgbClr val="A09890"/>
                </a:solidFill>
              </a:defRPr>
            </a:pPr>
            <a:r>
              <a:t>초기 배치 칸: 12칸 (스테이지 1)</a:t>
            </a:r>
          </a:p>
          <a:p>
            <a:pPr algn="l">
              <a:defRPr sz="1000" b="0">
                <a:solidFill>
                  <a:srgbClr val="A09890"/>
                </a:solidFill>
              </a:defRPr>
            </a:pPr>
            <a:r>
              <a:t>최대 확장: +4칸/회 (스킬 트리, 최대 3회)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86500" y="952500"/>
            <a:ext cx="6667500" cy="2095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29375" y="1047750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드래그 배치 UX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29375" y="1333500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77000" y="1428750"/>
            <a:ext cx="62865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1. 하단 인벤토리에서 타워 아이콘 터치/클릭</a:t>
            </a:r>
          </a:p>
          <a:p>
            <a:pPr algn="l">
              <a:defRPr sz="1200" b="0">
                <a:solidFill>
                  <a:srgbClr val="E0DCD0"/>
                </a:solidFill>
              </a:defRPr>
            </a:pPr>
            <a:r>
              <a:t>2. 아이콘이 커서를 따라 이동 (드래그 상태)</a:t>
            </a:r>
          </a:p>
          <a:p>
            <a:pPr algn="l">
              <a:defRPr sz="1200" b="0">
                <a:solidFill>
                  <a:srgbClr val="E0DCD0"/>
                </a:solidFill>
              </a:defRPr>
            </a:pPr>
            <a:r>
              <a:t>3. 맵 위 이동 시 하이라이트:</a:t>
            </a:r>
          </a:p>
          <a:p>
            <a:pPr algn="l">
              <a:defRPr sz="1100" b="0">
                <a:solidFill>
                  <a:srgbClr val="40D470"/>
                </a:solidFill>
              </a:defRPr>
            </a:pPr>
            <a:r>
              <a:t>   · 배치 가능 빈 칸 → 초록색 하이라이트</a:t>
            </a:r>
          </a:p>
          <a:p>
            <a:pPr algn="l">
              <a:defRPr sz="1100" b="0">
                <a:solidFill>
                  <a:srgbClr val="FFD84D"/>
                </a:solidFill>
              </a:defRPr>
            </a:pPr>
            <a:r>
              <a:t>   · 같은 타입+레벨 타워 위 → 금색 + 'LV UP!'</a:t>
            </a:r>
          </a:p>
          <a:p>
            <a:pPr algn="l">
              <a:defRPr sz="1100" b="0">
                <a:solidFill>
                  <a:srgbClr val="D44040"/>
                </a:solidFill>
              </a:defRPr>
            </a:pPr>
            <a:r>
              <a:t>   · 불가 위치 → 빨간색 하이라이트</a:t>
            </a:r>
          </a:p>
          <a:p>
            <a:pPr algn="l">
              <a:defRPr sz="1200" b="0">
                <a:solidFill>
                  <a:srgbClr val="E0DCD0"/>
                </a:solidFill>
              </a:defRPr>
            </a:pPr>
            <a:r>
              <a:t>4. 드롭 → 배치/합성 실행 또는 인벤토리 복귀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86500" y="3238500"/>
            <a:ext cx="6667500" cy="15240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29375" y="3333750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합성 규칙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29375" y="3619500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77000" y="3714750"/>
            <a:ext cx="62865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조건: 같은 타입 + 같은 레벨 타워 위에 드롭</a:t>
            </a:r>
          </a:p>
          <a:p>
            <a:pPr algn="l">
              <a:defRPr sz="1200" b="0">
                <a:solidFill>
                  <a:srgbClr val="E0DCD0"/>
                </a:solidFill>
              </a:defRPr>
            </a:pPr>
            <a:r>
              <a:t>결과: Level + 1 (예: Lv1+Lv1=Lv2, Lv2+Lv2=Lv3)</a:t>
            </a:r>
          </a:p>
          <a:p>
            <a:pPr algn="l">
              <a:defRPr sz="1200" b="1">
                <a:solidFill>
                  <a:srgbClr val="FFD84D"/>
                </a:solidFill>
              </a:defRPr>
            </a:pPr>
            <a:r>
              <a:t>최대 레벨: Lv4 (Lv4에는 합성 불가 → 빨간색 표시)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합성 비용: 없음 (타워 1기 소모가 유일한 비용)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71500" y="4953000"/>
            <a:ext cx="5524500" cy="1238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4375" y="5048250"/>
            <a:ext cx="5238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합성 이펙트 스케일링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4375" y="5334000"/>
            <a:ext cx="5238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2000" y="5410200"/>
            <a:ext cx="5143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</a:defRPr>
            </a:pPr>
            <a:r>
              <a:t>Lv1→Lv2: 작은 빛남 + '+1'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Lv2→Lv3: 중간 빛남 + 짧은 파티클</a:t>
            </a:r>
          </a:p>
          <a:p>
            <a:pPr algn="l">
              <a:defRPr sz="1100" b="1">
                <a:solidFill>
                  <a:srgbClr val="FFD84D"/>
                </a:solidFill>
              </a:defRPr>
            </a:pPr>
            <a:r>
              <a:t>Lv3→Lv4: 화면 미세 흔들림 + 전용 발광 오라 + 'MAX!'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71500" y="6381750"/>
            <a:ext cx="12382500" cy="1619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4375" y="6477000"/>
            <a:ext cx="1209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핵심 규칙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4375" y="6762750"/>
            <a:ext cx="12096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2000" y="6838950"/>
            <a:ext cx="12001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4040"/>
                </a:solidFill>
              </a:defRPr>
            </a:pPr>
            <a:r>
              <a:t>타워 판매 불가 (총괄PD 확정)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  → 한번 배치하면 영구 점유. 배치 결정에 무게감 부여.</a:t>
            </a:r>
          </a:p>
          <a:p>
            <a:pPr algn="l">
              <a:defRPr sz="600" b="0">
                <a:solidFill>
                  <a:srgbClr val="A09890"/>
                </a:solidFill>
              </a:defRPr>
            </a:pPr>
          </a:p>
          <a:p>
            <a:pPr algn="l">
              <a:defRPr sz="1400" b="1">
                <a:solidFill>
                  <a:srgbClr val="40D470"/>
                </a:solidFill>
              </a:defRPr>
            </a:pPr>
            <a:r>
              <a:t>배치 유지: 런이 종료되어도(죽어도) 배치된 타워는 유지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  → 성장이 누적된다는 느낌의 핵심. SaveData에 즉시 저장.</a:t>
            </a:r>
          </a:p>
          <a:p>
            <a:pPr algn="l">
              <a:defRPr sz="600" b="0">
                <a:solidFill>
                  <a:srgbClr val="A09890"/>
                </a:solidFill>
              </a:defRPr>
            </a:pPr>
          </a:p>
          <a:p>
            <a:pPr algn="l">
              <a:defRPr sz="1400" b="1">
                <a:solidFill>
                  <a:srgbClr val="4080D4"/>
                </a:solidFill>
              </a:defRPr>
            </a:pPr>
            <a:r>
              <a:t>스테이지별 독립 배치: 각 스테이지는 독립적인 배치 레이아웃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71500" y="8191500"/>
            <a:ext cx="12382500" cy="952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4375" y="8286750"/>
            <a:ext cx="1209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타워 인벤토리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4375" y="8572500"/>
            <a:ext cx="12096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2000" y="8648700"/>
            <a:ext cx="1200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최대 8칸 | 타워 아이콘+이름+레벨 표시 | 타입별 그룹핑, 레벨순 정렬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인벤토리 풀 → 보물상자 열기 불가 / 타워 획득: 오직 Hub 보물상자 + 첫 런 자동지급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3. 타워 6종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52500"/>
            <a:ext cx="1524000" cy="333375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1000125"/>
            <a:ext cx="1428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B0A080"/>
                </a:solidFill>
              </a:defRPr>
            </a:pPr>
            <a:r>
              <a:t>타워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5500" y="952500"/>
            <a:ext cx="2381250" cy="333375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3125" y="1000125"/>
            <a:ext cx="2286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B0A080"/>
                </a:solidFill>
              </a:defRPr>
            </a:pPr>
            <a:r>
              <a:t>Attack 방식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6750" y="952500"/>
            <a:ext cx="1714500" cy="333375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4375" y="1000125"/>
            <a:ext cx="16192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B0A080"/>
                </a:solidFill>
              </a:defRPr>
            </a:pPr>
            <a:r>
              <a:t>투사체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0" y="952500"/>
            <a:ext cx="1905000" cy="333375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8875" y="1000125"/>
            <a:ext cx="1809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B0A080"/>
                </a:solidFill>
              </a:defRPr>
            </a:pPr>
            <a:r>
              <a:t>타겟팅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6250" y="952500"/>
            <a:ext cx="1905000" cy="333375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3875" y="1000125"/>
            <a:ext cx="1809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B0A080"/>
                </a:solidFill>
              </a:defRPr>
            </a:pPr>
            <a:r>
              <a:t>특수 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1250" y="952500"/>
            <a:ext cx="2857500" cy="333375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8875" y="1000125"/>
            <a:ext cx="27622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B0A080"/>
                </a:solidFill>
              </a:defRPr>
            </a:pPr>
            <a:r>
              <a:t>레벨별 핵심 스탯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58750" y="952500"/>
            <a:ext cx="1905000" cy="333375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06375" y="1000125"/>
            <a:ext cx="1809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B0A080"/>
                </a:solidFill>
              </a:defRPr>
            </a:pPr>
            <a:r>
              <a:t>시그니처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85875"/>
            <a:ext cx="1524000" cy="1238250"/>
          </a:xfrm>
          <a:prstGeom prst="rect">
            <a:avLst/>
          </a:prstGeom>
          <a:solidFill>
            <a:srgbClr val="12101A"/>
          </a:solidFill>
          <a:ln w="25400">
            <a:solidFill>
              <a:srgbClr val="C0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125" y="1362075"/>
            <a:ext cx="1428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A870"/>
                </a:solidFill>
              </a:defRPr>
            </a:pPr>
            <a:r>
              <a:t>Arrow</a:t>
            </a:r>
          </a:p>
          <a:p>
            <a:pPr algn="ctr">
              <a:defRPr sz="1000" b="0">
                <a:solidFill>
                  <a:srgbClr val="A09890"/>
                </a:solidFill>
              </a:defRPr>
            </a:pPr>
            <a:r>
              <a:t>마법 석궁탑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95500" y="1285875"/>
            <a:ext cx="238125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3125" y="133350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투사체 단일 타격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76750" y="1285875"/>
            <a:ext cx="1714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4375" y="1333500"/>
            <a:ext cx="1619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Projectile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(기존)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1250" y="12858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8875" y="133350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가장 가까운 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6250" y="12858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3875" y="133350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01250" y="1285875"/>
            <a:ext cx="2857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8875" y="1333500"/>
            <a:ext cx="2762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DMG 10/18/30/50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SPD 1.0/1.15/1.3/1.5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58750" y="12858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430250" y="1619250"/>
            <a:ext cx="762000" cy="381000"/>
          </a:xfrm>
          <a:prstGeom prst="rect">
            <a:avLst/>
          </a:prstGeom>
          <a:solidFill>
            <a:srgbClr val="C0A87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" y="2524125"/>
            <a:ext cx="1524000" cy="1238250"/>
          </a:xfrm>
          <a:prstGeom prst="rect">
            <a:avLst/>
          </a:prstGeom>
          <a:solidFill>
            <a:srgbClr val="12101A"/>
          </a:solidFill>
          <a:ln w="254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125" y="2600325"/>
            <a:ext cx="1428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030"/>
                </a:solidFill>
              </a:defRPr>
            </a:pPr>
            <a:r>
              <a:t>Cannon</a:t>
            </a:r>
          </a:p>
          <a:p>
            <a:pPr algn="ctr">
              <a:defRPr sz="1000" b="0">
                <a:solidFill>
                  <a:srgbClr val="A09890"/>
                </a:solidFill>
              </a:defRPr>
            </a:pPr>
            <a:r>
              <a:t>화염 마법포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95500" y="2524125"/>
            <a:ext cx="238125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3125" y="257175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투사체 → 폭발 AoE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76750" y="2524125"/>
            <a:ext cx="1714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4375" y="2571750"/>
            <a:ext cx="1619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CannonProjectile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(신규)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1250" y="25241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8875" y="257175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가장 가까운 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6250" y="25241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43875" y="257175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explosionRadius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1.0/1.2/1.4/1.6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01250" y="2524125"/>
            <a:ext cx="2857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48875" y="2571750"/>
            <a:ext cx="2762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DMG 20/40/70/110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중심100%~가장자리50%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58750" y="25241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430250" y="2857500"/>
            <a:ext cx="762000" cy="381000"/>
          </a:xfrm>
          <a:prstGeom prst="rect">
            <a:avLst/>
          </a:prstGeom>
          <a:solidFill>
            <a:srgbClr val="E080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1500" y="3762375"/>
            <a:ext cx="1524000" cy="1238250"/>
          </a:xfrm>
          <a:prstGeom prst="rect">
            <a:avLst/>
          </a:prstGeom>
          <a:solidFill>
            <a:srgbClr val="12101A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125" y="3838575"/>
            <a:ext cx="1428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080D4"/>
                </a:solidFill>
              </a:defRPr>
            </a:pPr>
            <a:r>
              <a:t>Ice</a:t>
            </a:r>
          </a:p>
          <a:p>
            <a:pPr algn="ctr">
              <a:defRPr sz="1000" b="0">
                <a:solidFill>
                  <a:srgbClr val="A09890"/>
                </a:solidFill>
              </a:defRPr>
            </a:pPr>
            <a:r>
              <a:t>빙결 마탑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95500" y="3762375"/>
            <a:ext cx="238125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3125" y="381000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투사체 + 감속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76750" y="3762375"/>
            <a:ext cx="1714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4375" y="3810000"/>
            <a:ext cx="1619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IceProjectile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(신규)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1250" y="37623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8875" y="381000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가장 가까운 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96250" y="37623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43875" y="381000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slow 25~65%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dur 1.5~2.5s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01250" y="3762375"/>
            <a:ext cx="2857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48875" y="3810000"/>
            <a:ext cx="2762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DMG 8/15/28/45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감속 중첩불가,덮어쓰기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8750" y="37623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430250" y="4095750"/>
            <a:ext cx="762000" cy="381000"/>
          </a:xfrm>
          <a:prstGeom prst="rect">
            <a:avLst/>
          </a:prstGeom>
          <a:solidFill>
            <a:srgbClr val="4080D4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" y="5000625"/>
            <a:ext cx="1524000" cy="1238250"/>
          </a:xfrm>
          <a:prstGeom prst="rect">
            <a:avLst/>
          </a:prstGeom>
          <a:solidFill>
            <a:srgbClr val="12101A"/>
          </a:solidFill>
          <a:ln w="25400">
            <a:solidFill>
              <a:srgbClr val="E0D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125" y="5076825"/>
            <a:ext cx="1428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D040"/>
                </a:solidFill>
              </a:defRPr>
            </a:pPr>
            <a:r>
              <a:t>Lightning</a:t>
            </a:r>
          </a:p>
          <a:p>
            <a:pPr algn="ctr">
              <a:defRPr sz="1000" b="0">
                <a:solidFill>
                  <a:srgbClr val="A09890"/>
                </a:solidFill>
              </a:defRPr>
            </a:pPr>
            <a:r>
              <a:t>뇌전 첨탑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95500" y="5000625"/>
            <a:ext cx="238125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43125" y="504825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즉발 체인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76750" y="5000625"/>
            <a:ext cx="1714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24375" y="5048250"/>
            <a:ext cx="1619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없음 (즉발)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1250" y="50006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38875" y="504825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가장 가까운 적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→ 체인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6250" y="50006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43875" y="504825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chain 2~6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decay 30~10%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01250" y="5000625"/>
            <a:ext cx="2857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48875" y="5048250"/>
            <a:ext cx="2762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DMG 20/32/48/70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체인마다 데미지 감소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58750" y="50006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430250" y="5334000"/>
            <a:ext cx="762000" cy="381000"/>
          </a:xfrm>
          <a:prstGeom prst="rect">
            <a:avLst/>
          </a:prstGeom>
          <a:solidFill>
            <a:srgbClr val="E0D04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1500" y="6238875"/>
            <a:ext cx="1524000" cy="1238250"/>
          </a:xfrm>
          <a:prstGeom prst="rect">
            <a:avLst/>
          </a:prstGeom>
          <a:solidFill>
            <a:srgbClr val="12101A"/>
          </a:solidFill>
          <a:ln w="25400">
            <a:solidFill>
              <a:srgbClr val="906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9125" y="6315075"/>
            <a:ext cx="1428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060D0"/>
                </a:solidFill>
              </a:defRPr>
            </a:pPr>
            <a:r>
              <a:t>Laser</a:t>
            </a:r>
          </a:p>
          <a:p>
            <a:pPr algn="ctr">
              <a:defRPr sz="1000" b="0">
                <a:solidFill>
                  <a:srgbClr val="A09890"/>
                </a:solidFill>
              </a:defRPr>
            </a:pPr>
            <a:r>
              <a:t>마력 포탑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95500" y="6238875"/>
            <a:ext cx="238125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43125" y="628650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빔 지속 → 쿨다운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76750" y="6238875"/>
            <a:ext cx="1714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24375" y="6286500"/>
            <a:ext cx="1619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없음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(LineRenderer)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91250" y="62388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38875" y="628650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가장 가까운 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96250" y="62388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43875" y="628650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beam 2~3s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CD 3~2s, pierce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1250" y="6238875"/>
            <a:ext cx="2857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8875" y="6286500"/>
            <a:ext cx="2762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DPS 25/50/90/140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빔 관통 3~무제한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858750" y="623887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430250" y="6572250"/>
            <a:ext cx="762000" cy="381000"/>
          </a:xfrm>
          <a:prstGeom prst="rect">
            <a:avLst/>
          </a:prstGeom>
          <a:solidFill>
            <a:srgbClr val="9060D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71500" y="7477125"/>
            <a:ext cx="1524000" cy="1238250"/>
          </a:xfrm>
          <a:prstGeom prst="rect">
            <a:avLst/>
          </a:prstGeom>
          <a:solidFill>
            <a:srgbClr val="12101A"/>
          </a:solidFill>
          <a:ln w="25400">
            <a:solidFill>
              <a:srgbClr val="3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9125" y="7553325"/>
            <a:ext cx="1428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2050"/>
                </a:solidFill>
              </a:defRPr>
            </a:pPr>
            <a:r>
              <a:t>Void</a:t>
            </a:r>
          </a:p>
          <a:p>
            <a:pPr algn="ctr">
              <a:defRPr sz="1000" b="0">
                <a:solidFill>
                  <a:srgbClr val="A09890"/>
                </a:solidFill>
              </a:defRPr>
            </a:pPr>
            <a:r>
              <a:t>공허의 오벨리스크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5500" y="7477125"/>
            <a:ext cx="238125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43125" y="752475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범위 지속 데미지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76750" y="7477125"/>
            <a:ext cx="1714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24375" y="7524750"/>
            <a:ext cx="1619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없음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(상시 AoE)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91250" y="74771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38875" y="752475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범위 내 전체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96250" y="74771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43875" y="7524750"/>
            <a:ext cx="1809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AoE 2.0~3.5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Lv3+ 방어무시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01250" y="7477125"/>
            <a:ext cx="28575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048875" y="7524750"/>
            <a:ext cx="27622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DPS 15/35/65/100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Lv4+ 감속 20%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2858750" y="7477125"/>
            <a:ext cx="1905000" cy="1238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3430250" y="7810500"/>
            <a:ext cx="762000" cy="381000"/>
          </a:xfrm>
          <a:prstGeom prst="rect">
            <a:avLst/>
          </a:prstGeom>
          <a:solidFill>
            <a:srgbClr val="30205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4. Node (마물) 특수 능력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952500"/>
            <a:ext cx="32385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28700"/>
            <a:ext cx="3048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080D4"/>
                </a:solidFill>
              </a:defRPr>
            </a:pPr>
            <a:r>
              <a:t>Shield (갑주 마물)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238250"/>
            <a:ext cx="3048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ShieldAbility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40970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144780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방어력: armor=5 (고정 차감)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공식: Max(1, DMG - armor)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예: Arrow Lv1(8) → 3 DMG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Void Lv3+ ignoreArmor → 무시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피드백: 'BLOCKED' + 회색 데미지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500" y="952500"/>
            <a:ext cx="32385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5750" y="1028700"/>
            <a:ext cx="3048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0D470"/>
                </a:solidFill>
              </a:defRPr>
            </a:pPr>
            <a:r>
              <a:t>Regen (재생 마물)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0" y="1238250"/>
            <a:ext cx="3048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RegenAbility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5750" y="140970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750" y="144780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초당 최대HP 5% 회복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틱 간격: 0.5초 (1.25HP/틱)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HP 50 → 순DPS 7.5 필요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피드백: 초록 파티클 + HP바 글로우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대응: 고DPS 집중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9500" y="952500"/>
            <a:ext cx="32385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906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750" y="1028700"/>
            <a:ext cx="3048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9060D0"/>
                </a:solidFill>
              </a:defRPr>
            </a:pPr>
            <a:r>
              <a:t>Phase (유령 마물)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0" y="1238250"/>
            <a:ext cx="3048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PhaseAbility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4750" y="140970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4750" y="144780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2초 공격가능 → 1초 무적 (반복)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무적 중 모든 DMG 무효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피드백: 반투명(α0.3)+보라 오라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진입 0.2초 전 깜빡임 경고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대응: Laser/Void 지속 데미지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143250"/>
            <a:ext cx="32385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750" y="3219450"/>
            <a:ext cx="3048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08030"/>
                </a:solidFill>
              </a:defRPr>
            </a:pPr>
            <a:r>
              <a:t>Split (분열 마물)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3429000"/>
            <a:ext cx="3048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SplitAbility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750" y="360045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363855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사망 시 소형 Node 2마리 분열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분열체 HP=원본 30%, 속도 x1.2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분열체 재분열 없음 (1회만)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분열체 Bit 드롭: 2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대응: AoE (Cannon, Lightning)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0500" y="3143250"/>
            <a:ext cx="32385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5750" y="3219450"/>
            <a:ext cx="3048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4040"/>
                </a:solidFill>
              </a:defRPr>
            </a:pPr>
            <a:r>
              <a:t>Boss (대마)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5750" y="3429000"/>
            <a:ext cx="3048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BossAbility + ShieldAbility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5750" y="360045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750" y="363855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극히 높은 HP + 방어력 3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등장: 슬로우모션 0.5초 + 경고UI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처치: 슬로우0.5초 + 대형 폭발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카메라 셰이크 + 대형 Bit 비산</a:t>
            </a:r>
          </a:p>
          <a:p>
            <a:pPr algn="l">
              <a:defRPr sz="1000" b="0">
                <a:solidFill>
                  <a:srgbClr val="E0DCD0"/>
                </a:solidFill>
              </a:defRPr>
            </a:pPr>
            <a:r>
              <a:t>스테이지 최종 웨이브에 1체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" y="4953000"/>
            <a:ext cx="13716000" cy="29527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375" y="5048250"/>
            <a:ext cx="13430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Node 전체 요약표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4375" y="5334000"/>
            <a:ext cx="13430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" y="5429250"/>
            <a:ext cx="13335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075" y="5457825"/>
            <a:ext cx="12763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Node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5000" y="5429250"/>
            <a:ext cx="15240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33575" y="5457825"/>
            <a:ext cx="1466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컴포넌트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5429250"/>
            <a:ext cx="180975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7575" y="5457825"/>
            <a:ext cx="17526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핵심 파라미터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8750" y="5429250"/>
            <a:ext cx="20955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67325" y="5457825"/>
            <a:ext cx="20383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HP / Speed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4250" y="5429250"/>
            <a:ext cx="26670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2825" y="5457825"/>
            <a:ext cx="2609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대응 전략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01250" y="5429250"/>
            <a:ext cx="38100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29825" y="5457825"/>
            <a:ext cx="3752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비고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5695950"/>
            <a:ext cx="1333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0075" y="571500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Bit (소형 마물)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5000" y="5695950"/>
            <a:ext cx="1524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33575" y="571500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5695950"/>
            <a:ext cx="1809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57575" y="571500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38750" y="5695950"/>
            <a:ext cx="2095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67325" y="571500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20 / 1.5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4250" y="5695950"/>
            <a:ext cx="2667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2825" y="571500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Arrow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1250" y="5695950"/>
            <a:ext cx="3810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29825" y="571500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기본, 가장 흔함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1500" y="5905500"/>
            <a:ext cx="1333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0075" y="592455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Quick (척후)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5000" y="5905500"/>
            <a:ext cx="1524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33575" y="592455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29000" y="5905500"/>
            <a:ext cx="1809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57575" y="592455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speed 3.0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38750" y="5905500"/>
            <a:ext cx="2095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67325" y="592455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12 / 3.0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34250" y="5905500"/>
            <a:ext cx="2667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2825" y="592455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Ice 감속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01250" y="5905500"/>
            <a:ext cx="3810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29825" y="592455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빠름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" y="6115050"/>
            <a:ext cx="1333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0075" y="613410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Heavy (중갑)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05000" y="6115050"/>
            <a:ext cx="1524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33575" y="613410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없음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29000" y="6115050"/>
            <a:ext cx="1809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57575" y="613410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hp 80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38750" y="6115050"/>
            <a:ext cx="2095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67325" y="613410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80 / 0.8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34250" y="6115050"/>
            <a:ext cx="2667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62825" y="613410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화력 집중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01250" y="6115050"/>
            <a:ext cx="3810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29825" y="613410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높은 HP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1500" y="6324600"/>
            <a:ext cx="1333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0075" y="634365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Shield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05000" y="6324600"/>
            <a:ext cx="1524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33575" y="634365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ShieldAbility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29000" y="6324600"/>
            <a:ext cx="1809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57575" y="634365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armor: 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38750" y="6324600"/>
            <a:ext cx="2095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67325" y="634365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40 / 1.2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34250" y="6324600"/>
            <a:ext cx="2667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62825" y="634365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고DMG or Void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01250" y="6324600"/>
            <a:ext cx="3810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29825" y="634365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고정 차감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1500" y="6534150"/>
            <a:ext cx="1333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0075" y="655320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Swarm (벌레)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05000" y="6534150"/>
            <a:ext cx="1524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33575" y="655320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없음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29000" y="6534150"/>
            <a:ext cx="1809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57575" y="655320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대량 스폰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38750" y="6534150"/>
            <a:ext cx="2095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267325" y="655320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5 / 2.0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34250" y="6534150"/>
            <a:ext cx="2667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62825" y="655320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AoE 필수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01250" y="6534150"/>
            <a:ext cx="3810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029825" y="655320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극소형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1500" y="6743700"/>
            <a:ext cx="1333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0075" y="676275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Regen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05000" y="6743700"/>
            <a:ext cx="1524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33575" y="676275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RegenAbility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29000" y="6743700"/>
            <a:ext cx="1809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57575" y="676275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5%HP/초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38750" y="6743700"/>
            <a:ext cx="2095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67325" y="676275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50 / 1.0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34250" y="6743700"/>
            <a:ext cx="2667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62825" y="676275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고DPS 집중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1250" y="6743700"/>
            <a:ext cx="3810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29825" y="676275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회복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1500" y="6953250"/>
            <a:ext cx="1333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00075" y="697230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Phase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905000" y="6953250"/>
            <a:ext cx="1524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933575" y="697230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PhaseAbility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29000" y="6953250"/>
            <a:ext cx="1809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57575" y="697230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2s/1s 사이클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238750" y="6953250"/>
            <a:ext cx="2095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267325" y="697230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35 / 1.3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334250" y="6953250"/>
            <a:ext cx="2667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62825" y="697230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지속 DMG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01250" y="6953250"/>
            <a:ext cx="3810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29825" y="697230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주기적 무적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1500" y="7162800"/>
            <a:ext cx="1333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00075" y="718185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Split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905000" y="7162800"/>
            <a:ext cx="1524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933575" y="718185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SplitAbility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29000" y="7162800"/>
            <a:ext cx="1809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57575" y="718185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분열2,HP30%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238750" y="7162800"/>
            <a:ext cx="2095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267325" y="718185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30 / 1.3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334250" y="7162800"/>
            <a:ext cx="2667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62825" y="718185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AoE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01250" y="7162800"/>
            <a:ext cx="3810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29825" y="718185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1회 분열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71500" y="7372350"/>
            <a:ext cx="1333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00075" y="7391400"/>
            <a:ext cx="1276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Boss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05000" y="7372350"/>
            <a:ext cx="1524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933575" y="7391400"/>
            <a:ext cx="1466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Boss+Shield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29000" y="7372350"/>
            <a:ext cx="1809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457575" y="7391400"/>
            <a:ext cx="1752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armor:3,고HP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238750" y="7372350"/>
            <a:ext cx="2095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267325" y="739140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500 / 0.5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334250" y="7372350"/>
            <a:ext cx="2667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362825" y="7391400"/>
            <a:ext cx="2609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전체 조합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001250" y="7372350"/>
            <a:ext cx="3810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029825" y="7391400"/>
            <a:ext cx="3752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DCD0"/>
                </a:solidFill>
              </a:defRPr>
            </a:pPr>
            <a:r>
              <a:t>최종 웨이브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5. 보물상자 시스템 (Hub)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952500"/>
            <a:ext cx="57150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4375" y="1047750"/>
            <a:ext cx="5429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상자 획득 조건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375" y="1333500"/>
            <a:ext cx="5429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428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470"/>
                </a:solidFill>
              </a:defRPr>
            </a:pPr>
            <a:r>
              <a:t>스테이지 첫 클리어 → 2개</a:t>
            </a:r>
          </a:p>
          <a:p>
            <a:pPr algn="l">
              <a:defRPr sz="1300" b="0">
                <a:solidFill>
                  <a:srgbClr val="4080D4"/>
                </a:solidFill>
              </a:defRPr>
            </a:pPr>
            <a:r>
              <a:t>누적 웨이브 클리어 마일스톤 → 1개</a:t>
            </a:r>
          </a:p>
          <a:p>
            <a:pPr algn="l">
              <a:defRPr sz="1300" b="0">
                <a:solidFill>
                  <a:srgbClr val="E0DCD0"/>
                </a:solidFill>
              </a:defRPr>
            </a:pPr>
            <a:r>
              <a:t>매 런 종료 시 (패배 포함) → 0~1개</a:t>
            </a: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  (도달 웨이브에 비례)</a:t>
            </a:r>
          </a:p>
          <a:p>
            <a:pPr algn="l">
              <a:defRPr sz="600" b="0">
                <a:solidFill>
                  <a:srgbClr val="A09890"/>
                </a:solidFill>
              </a:defRPr>
            </a:pPr>
          </a:p>
          <a:p>
            <a:pPr algn="l">
              <a:defRPr sz="1200" b="1">
                <a:solidFill>
                  <a:srgbClr val="FFD84D"/>
                </a:solidFill>
              </a:defRPr>
            </a:pPr>
            <a:r>
              <a:t>상자 비용: 무료 (상자 자체가 보상)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Hub에서만 열기 가능 / 인게임 중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0" y="952500"/>
            <a:ext cx="70485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0375" y="1047750"/>
            <a:ext cx="6762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상자 내용물 확률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0375" y="1333500"/>
            <a:ext cx="6762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28750"/>
            <a:ext cx="6667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75% - 타워 3후보지 (해금된 타워 풀에서 랜덤 3종, 1개 선택)</a:t>
            </a:r>
          </a:p>
          <a:p>
            <a:pPr algn="l">
              <a:defRPr sz="1200" b="0">
                <a:solidFill>
                  <a:srgbClr val="9060D0"/>
                </a:solidFill>
              </a:defRPr>
            </a:pPr>
            <a:r>
              <a:t>25% - 뱃지 (타워 능력치 영구 강화 아이템)</a:t>
            </a:r>
          </a:p>
          <a:p>
            <a:pPr algn="l">
              <a:defRPr sz="6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후보 레벨: 모두 Lv1 (레벨업은 합성으로만)</a:t>
            </a: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3개 중 반드시 1개 선택 (건너뛰기 불가)</a:t>
            </a:r>
          </a:p>
          <a:p>
            <a:pPr algn="l">
              <a:defRPr sz="1100" b="0">
                <a:solidFill>
                  <a:srgbClr val="D44040"/>
                </a:solidFill>
              </a:defRPr>
            </a:pPr>
            <a:r>
              <a:t>인벤토리 빈 슬롯 없으면 상자 열기 불가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952750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E4F0"/>
                </a:solidFill>
              </a:defRPr>
            </a:pPr>
            <a:r>
              <a:t>상자 오픈 연출 플로우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238500"/>
            <a:ext cx="2857500" cy="952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3429000"/>
            <a:ext cx="1905000" cy="61912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625" y="3505200"/>
            <a:ext cx="1809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84D"/>
                </a:solidFill>
              </a:defRPr>
            </a:pPr>
            <a:r>
              <a:t>상자 등장</a:t>
            </a:r>
          </a:p>
          <a:p>
            <a:pPr algn="ctr">
              <a:defRPr sz="900" b="0">
                <a:solidFill>
                  <a:srgbClr val="A09890"/>
                </a:solidFill>
              </a:defRPr>
            </a:pPr>
            <a:r>
              <a:t>0.3초 확대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52750" y="3429000"/>
            <a:ext cx="1905000" cy="61912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0375" y="3505200"/>
            <a:ext cx="1809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84D"/>
                </a:solidFill>
              </a:defRPr>
            </a:pPr>
            <a:r>
              <a:t>상자 열림</a:t>
            </a:r>
          </a:p>
          <a:p>
            <a:pPr algn="ctr">
              <a:defRPr sz="900" b="0">
                <a:solidFill>
                  <a:srgbClr val="A09890"/>
                </a:solidFill>
              </a:defRPr>
            </a:pPr>
            <a:r>
              <a:t>빛 방사 0.5초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3429000"/>
            <a:ext cx="1905000" cy="61912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1125" y="3505200"/>
            <a:ext cx="1809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80D4"/>
                </a:solidFill>
              </a:defRPr>
            </a:pPr>
            <a:r>
              <a:t>카드 3장 등장</a:t>
            </a:r>
          </a:p>
          <a:p>
            <a:pPr algn="ctr">
              <a:defRPr sz="900" b="0">
                <a:solidFill>
                  <a:srgbClr val="A09890"/>
                </a:solidFill>
              </a:defRPr>
            </a:pPr>
            <a:r>
              <a:t>(뒤집힌 상태)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429125"/>
            <a:ext cx="1905000" cy="61912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E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625" y="4505325"/>
            <a:ext cx="1809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E4F0"/>
                </a:solidFill>
              </a:defRPr>
            </a:pPr>
            <a:r>
              <a:t>카드 순차 공개</a:t>
            </a:r>
          </a:p>
          <a:p>
            <a:pPr algn="ctr">
              <a:defRPr sz="900" b="0">
                <a:solidFill>
                  <a:srgbClr val="A09890"/>
                </a:solidFill>
              </a:defRPr>
            </a:pPr>
            <a:r>
              <a:t>각 0.3초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52750" y="4429125"/>
            <a:ext cx="1905000" cy="61912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00375" y="4505325"/>
            <a:ext cx="1809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D470"/>
                </a:solidFill>
              </a:defRPr>
            </a:pPr>
            <a:r>
              <a:t>플레이어 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3500" y="4429125"/>
            <a:ext cx="1905000" cy="619125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1125" y="4505325"/>
            <a:ext cx="18097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D470"/>
                </a:solidFill>
              </a:defRPr>
            </a:pPr>
            <a:r>
              <a:t>인벤토리로</a:t>
            </a:r>
          </a:p>
          <a:p>
            <a:pPr algn="ctr">
              <a:defRPr sz="900" b="0">
                <a:solidFill>
                  <a:srgbClr val="A09890"/>
                </a:solidFill>
              </a:defRPr>
            </a:pPr>
            <a:r>
              <a:t>날아감 0.5초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5575" y="3733800"/>
            <a:ext cx="2286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86325" y="3733800"/>
            <a:ext cx="2286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5575" y="4733925"/>
            <a:ext cx="2286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86325" y="4733925"/>
            <a:ext cx="228600" cy="28575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1500" y="5429250"/>
            <a:ext cx="5715000" cy="2095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375" y="5524500"/>
            <a:ext cx="5429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타워 등장 가중치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4375" y="5810250"/>
            <a:ext cx="5429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5905500"/>
            <a:ext cx="952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A870"/>
                </a:solidFill>
              </a:defRPr>
            </a:pPr>
            <a:r>
              <a:t>Arrow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9750" y="5953125"/>
            <a:ext cx="2381250" cy="133350"/>
          </a:xfrm>
          <a:prstGeom prst="rect">
            <a:avLst/>
          </a:prstGeom>
          <a:solidFill>
            <a:srgbClr val="C0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6250" y="5905500"/>
            <a:ext cx="381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1500" y="5905500"/>
            <a:ext cx="1714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기본, 흔함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6153150"/>
            <a:ext cx="952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08030"/>
                </a:solidFill>
              </a:defRPr>
            </a:pPr>
            <a:r>
              <a:t>Cannon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9750" y="6200775"/>
            <a:ext cx="1981200" cy="133350"/>
          </a:xfrm>
          <a:prstGeom prst="rect">
            <a:avLst/>
          </a:prstGeom>
          <a:solidFill>
            <a:srgbClr val="E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6153150"/>
            <a:ext cx="381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1500" y="6153150"/>
            <a:ext cx="1714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흔함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6400800"/>
            <a:ext cx="952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080D4"/>
                </a:solidFill>
              </a:defRPr>
            </a:pPr>
            <a:r>
              <a:t>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09750" y="6448425"/>
            <a:ext cx="1581150" cy="133350"/>
          </a:xfrm>
          <a:prstGeom prst="rect">
            <a:avLst/>
          </a:prstGeom>
          <a:solidFill>
            <a:srgbClr val="408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86150" y="6400800"/>
            <a:ext cx="381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1500" y="6400800"/>
            <a:ext cx="1714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보통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6648450"/>
            <a:ext cx="952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0D040"/>
                </a:solidFill>
              </a:defRPr>
            </a:pPr>
            <a:r>
              <a:t>Lightning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09750" y="6696075"/>
            <a:ext cx="1190625" cy="133350"/>
          </a:xfrm>
          <a:prstGeom prst="rect">
            <a:avLst/>
          </a:prstGeom>
          <a:solidFill>
            <a:srgbClr val="E0D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5625" y="6648450"/>
            <a:ext cx="381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1500" y="6648450"/>
            <a:ext cx="1714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약간 희귀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" y="6896100"/>
            <a:ext cx="952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9060D0"/>
                </a:solidFill>
              </a:defRPr>
            </a:pPr>
            <a:r>
              <a:t>Laser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09750" y="6943725"/>
            <a:ext cx="552450" cy="133350"/>
          </a:xfrm>
          <a:prstGeom prst="rect">
            <a:avLst/>
          </a:prstGeom>
          <a:solidFill>
            <a:srgbClr val="9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57450" y="6896100"/>
            <a:ext cx="381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1500" y="6896100"/>
            <a:ext cx="1714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희귀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0" y="7143750"/>
            <a:ext cx="952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02050"/>
                </a:solidFill>
              </a:defRPr>
            </a:pPr>
            <a:r>
              <a:t>Void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09750" y="7191375"/>
            <a:ext cx="238125" cy="133350"/>
          </a:xfrm>
          <a:prstGeom prst="rect">
            <a:avLst/>
          </a:prstGeom>
          <a:solidFill>
            <a:srgbClr val="3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43125" y="7143750"/>
            <a:ext cx="381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1500" y="7143750"/>
            <a:ext cx="17145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매우 희귀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67500" y="5429250"/>
            <a:ext cx="7048500" cy="2095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0375" y="5524500"/>
            <a:ext cx="6762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뱃지 시스템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0375" y="5810250"/>
            <a:ext cx="6762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5905500"/>
            <a:ext cx="66675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60D0"/>
                </a:solidFill>
              </a:defRPr>
            </a:pPr>
            <a:r>
              <a:t>특정 타워 타입의 능력치를 영구 강화</a:t>
            </a: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인벤토리 슬롯 차지하지 않음 (별도 목록)</a:t>
            </a: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같은 뱃지 중첩 가능 (최대 5중첩)</a:t>
            </a:r>
          </a:p>
          <a:p>
            <a:pPr algn="l">
              <a:defRPr sz="6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공격력 뱃지: 해당 타워 공격력 +10%/중첩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공격속도 뱃지: 해당 타워 공속 +8%/중첩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사거리 뱃지: 해당 타워 사거리 +0.3/중첩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특수능력 뱃지: 해당 타워 특수 수치 강화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6. 웨이브 규칙 / 인게임 경제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952500"/>
            <a:ext cx="6667500" cy="2381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4375" y="1047750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웨이브 대기 시간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375" y="1333500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428750"/>
            <a:ext cx="6286500" cy="180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웨이브 1 시작 전: 3초 (맵 확인 + 첫 타워 배치)</a:t>
            </a:r>
          </a:p>
          <a:p>
            <a:pPr algn="l">
              <a:defRPr sz="1200" b="0">
                <a:solidFill>
                  <a:srgbClr val="E0DCD0"/>
                </a:solidFill>
              </a:defRPr>
            </a:pPr>
            <a:r>
              <a:t>이후 웨이브 시작 전: 3초 (기본)</a:t>
            </a:r>
          </a:p>
          <a:p>
            <a:pPr algn="l">
              <a:defRPr sz="1200" b="1">
                <a:solidFill>
                  <a:srgbClr val="D44040"/>
                </a:solidFill>
              </a:defRPr>
            </a:pPr>
            <a:r>
              <a:t>보스 웨이브 전: 5초 (총괄PD 확정)</a:t>
            </a:r>
          </a:p>
          <a:p>
            <a:pPr algn="l">
              <a:defRPr sz="600" b="0">
                <a:solidFill>
                  <a:srgbClr val="A09890"/>
                </a:solidFill>
              </a:defRPr>
            </a:pPr>
          </a:p>
          <a:p>
            <a:pPr algn="l">
              <a:defRPr sz="1300" b="1">
                <a:solidFill>
                  <a:srgbClr val="40D470"/>
                </a:solidFill>
              </a:defRPr>
            </a:pPr>
            <a:r>
              <a:t>클리어 보너스 = 10 + (웨이브번호 × 5) Bit</a:t>
            </a: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  웨이브1: 15 Bit / 웨이브2: 20 / 웨이브3: 25 / 웨이브4: 30</a:t>
            </a: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  × StageData.bitDropMultiplier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0" y="952500"/>
            <a:ext cx="6096000" cy="2381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62875" y="1047750"/>
            <a:ext cx="5810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Bit 수입 / 지출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62875" y="1333500"/>
            <a:ext cx="5810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0500" y="15240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40D470"/>
                </a:solidFill>
              </a:defRPr>
            </a:pPr>
            <a:r>
              <a:t>[수입]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0" y="1762125"/>
            <a:ext cx="1905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0D470"/>
                </a:solidFill>
              </a:defRPr>
            </a:pPr>
            <a:r>
              <a:t>• Node 처치 드롭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0" y="1952625"/>
            <a:ext cx="1905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0D470"/>
                </a:solidFill>
              </a:defRPr>
            </a:pPr>
            <a:r>
              <a:t>• 웨이브 클리어 보너스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0" y="2143125"/>
            <a:ext cx="1905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0D470"/>
                </a:solidFill>
              </a:defRPr>
            </a:pPr>
            <a:r>
              <a:t>• 콤보 보너스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1250" y="1619250"/>
            <a:ext cx="1333500" cy="571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1250" y="1762125"/>
            <a:ext cx="1333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D84D"/>
                </a:solidFill>
              </a:defRPr>
            </a:pPr>
            <a:r>
              <a:t>보유 Bit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0750" y="1885950"/>
            <a:ext cx="190500" cy="28575"/>
          </a:xfrm>
          <a:prstGeom prst="rect">
            <a:avLst/>
          </a:prstGeom>
          <a:solidFill>
            <a:srgbClr val="40D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34750" y="1885950"/>
            <a:ext cx="190500" cy="28575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20500" y="15240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4040"/>
                </a:solidFill>
              </a:defRPr>
            </a:pPr>
            <a:r>
              <a:t>[지출]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0" y="1762125"/>
            <a:ext cx="1905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44040"/>
                </a:solidFill>
              </a:defRPr>
            </a:pPr>
            <a:r>
              <a:t>• 타워 구매 (placeCost)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5750" y="1952625"/>
            <a:ext cx="19050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09890"/>
                </a:solidFill>
              </a:defRPr>
            </a:pPr>
            <a:r>
              <a:t>• 판매 불가 → 환불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0" y="2571750"/>
            <a:ext cx="5715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9890"/>
                </a:solidFill>
              </a:defRPr>
            </a:pPr>
            <a:r>
              <a:t>런 종료 시 잔여 Bit → 영구 저장 (Hub에서 스킬 트리 구매에 사용)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524250"/>
            <a:ext cx="4762500" cy="19050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375" y="3619500"/>
            <a:ext cx="447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타워 구매 비용 (인게임 Bit)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4375" y="3905250"/>
            <a:ext cx="4476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000500"/>
            <a:ext cx="1143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A870"/>
                </a:solidFill>
              </a:defRPr>
            </a:pPr>
            <a:r>
              <a:t>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0005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30 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229100"/>
            <a:ext cx="1143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08030"/>
                </a:solidFill>
              </a:defRPr>
            </a:pPr>
            <a:r>
              <a:t>Cannon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0750" y="42291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60 Bit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457700"/>
            <a:ext cx="1143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080D4"/>
                </a:solidFill>
              </a:defRPr>
            </a:pPr>
            <a:r>
              <a:t>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44577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45 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4686300"/>
            <a:ext cx="1143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0D040"/>
                </a:solidFill>
              </a:defRPr>
            </a:pPr>
            <a:r>
              <a:t>Lightning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0750" y="46863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80 Bit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4914900"/>
            <a:ext cx="1143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9060D0"/>
                </a:solidFill>
              </a:defRPr>
            </a:pPr>
            <a:r>
              <a:t>Laser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49149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120 Bit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5143500"/>
            <a:ext cx="1143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02050"/>
                </a:solidFill>
              </a:defRPr>
            </a:pPr>
            <a:r>
              <a:t>Void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0750" y="5143500"/>
            <a:ext cx="9525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150 Bit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0" y="3524250"/>
            <a:ext cx="8001000" cy="19050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7875" y="3619500"/>
            <a:ext cx="7715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콤보 보너스 시스템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7875" y="3905250"/>
            <a:ext cx="7715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05500" y="4000500"/>
            <a:ext cx="7620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3초 이내 연속 처치 → 콤보 카운터 증가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1~4 콤보: 보너스 없음, 카운터만 표시</a:t>
            </a:r>
          </a:p>
          <a:p>
            <a:pPr algn="l">
              <a:defRPr sz="1100" b="0">
                <a:solidFill>
                  <a:srgbClr val="E08030"/>
                </a:solidFill>
              </a:defRPr>
            </a:pPr>
            <a:r>
              <a:t>5~9 콤보: +50% Bit, 'COMBO x5!' + 파티클 확대</a:t>
            </a:r>
          </a:p>
          <a:p>
            <a:pPr algn="l">
              <a:defRPr sz="1100" b="0">
                <a:solidFill>
                  <a:srgbClr val="FFD84D"/>
                </a:solidFill>
              </a:defRPr>
            </a:pPr>
            <a:r>
              <a:t>10~19 콤보: +100% Bit, 'COMBO x10!' + 화면 흔들림</a:t>
            </a:r>
          </a:p>
          <a:p>
            <a:pPr algn="l">
              <a:defRPr sz="1100" b="1">
                <a:solidFill>
                  <a:srgbClr val="D44040"/>
                </a:solidFill>
              </a:defRPr>
            </a:pPr>
            <a:r>
              <a:t>20+ 콤보: +200% Bit, 'MEGA COMBO!' + 화면 플래시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1500" y="5619750"/>
            <a:ext cx="13144500" cy="2762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4375" y="5715000"/>
            <a:ext cx="12858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경제 밸런스 시뮬레이션 (스테이지 1, 영구 업그레이드 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4375" y="6000750"/>
            <a:ext cx="12858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6076950"/>
            <a:ext cx="12763500" cy="219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</a:defRPr>
            </a:pPr>
            <a:r>
              <a:t>런 시작: 0 Bit (시작 Bit 스킬 없음)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웨이브 1 (Bit x5): 처치 15 + 클리어 15 = 30 Bit → Arrow 1기 구매 가능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웨이브 2 (Bit x8): 처치 24 + 클리어 20 = 44 Bit → 누적 ~74 Bit</a:t>
            </a:r>
          </a:p>
          <a:p>
            <a:pPr algn="l">
              <a:defRPr sz="1100" b="0">
                <a:solidFill>
                  <a:srgbClr val="D44040"/>
                </a:solidFill>
              </a:defRPr>
            </a:pPr>
            <a:r>
              <a:t>웨이브 3 (Bit x6 + Quick x3): 처치 30 + 클리어 25 = 55 Bit → 대부분 여기서 사망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40D470"/>
                </a:solidFill>
              </a:defRPr>
            </a:pPr>
            <a:r>
              <a:t>매 런 영구 업그레이드: 공격력 Lv1(50), 공속 Lv1(80) 등 1~2개 가능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200" b="1">
                <a:solidFill>
                  <a:srgbClr val="FFD84D"/>
                </a:solidFill>
              </a:defRPr>
            </a:pPr>
            <a:r>
              <a:t>총 가능 Bit (전부 처치 + 클리어): 179 + 90 = 269 Bit</a:t>
            </a:r>
          </a:p>
          <a:p>
            <a:pPr algn="l">
              <a:defRPr sz="1200" b="1">
                <a:solidFill>
                  <a:srgbClr val="9060D0"/>
                </a:solidFill>
              </a:defRPr>
            </a:pPr>
            <a:r>
              <a:t>스테이지 클리어 시: +Core 2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첫 클리어 예상: 런 11~20회, 총 플레이 시간 ~20~30분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7. 전투 피드백 / 이펙트 트리거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04875"/>
            <a:ext cx="219075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933450"/>
            <a:ext cx="21336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이벤트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2250" y="904875"/>
            <a:ext cx="352425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90825" y="933450"/>
            <a:ext cx="34671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시각 피드백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6500" y="904875"/>
            <a:ext cx="28575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5075" y="933450"/>
            <a:ext cx="28003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사운드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904875"/>
            <a:ext cx="17145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2575" y="933450"/>
            <a:ext cx="16573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58500" y="904875"/>
            <a:ext cx="3048000" cy="26670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7075" y="933450"/>
            <a:ext cx="2990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조건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715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075" y="11906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타워 공격 발사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0" y="11715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0825" y="11906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발사 애니메이션 (2f)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6500" y="11715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075" y="11906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타워별 공격음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1715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11906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58500" y="11715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7075" y="11906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매 공격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381125"/>
            <a:ext cx="2190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075" y="140017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투사체 적중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2250" y="1381125"/>
            <a:ext cx="35242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90825" y="140017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타격 스파크 (타워 컬러)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6500" y="1381125"/>
            <a:ext cx="2857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5075" y="140017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히트음 (짧고 경쾌)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381125"/>
            <a:ext cx="1714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2575" y="140017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58500" y="1381125"/>
            <a:ext cx="3048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7075" y="140017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매 적중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15906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075" y="16097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Node 처치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2250" y="15906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90825" y="16097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파괴 파티클 + '+N Bit' 팝업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6500" y="15906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5075" y="16097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처치음 (타입별)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5906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2575" y="16097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58500" y="15906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7075" y="16097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매 처치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1800225"/>
            <a:ext cx="2190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0075" y="181927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동시 다수 처치 (AoE)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62250" y="1800225"/>
            <a:ext cx="35242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90825" y="181927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큰 폭발 + 합산 Bit 팝업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500" y="1800225"/>
            <a:ext cx="2857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15075" y="181927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폭발음 (강조)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1800225"/>
            <a:ext cx="1714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72575" y="181927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미세 흔들림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58500" y="1800225"/>
            <a:ext cx="3048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87075" y="181927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3마리+ 동시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1500" y="20097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0075" y="20288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콤보 5+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62250" y="20097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90825" y="20288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'COMBO xN!' + 파티클 확대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6500" y="20097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15075" y="20288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콤보 효과음 (상승)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20097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72575" y="20288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58500" y="20097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87075" y="20288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콤보 5+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1500" y="2219325"/>
            <a:ext cx="2190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0075" y="223837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Node 기지 도착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62250" y="2219325"/>
            <a:ext cx="35242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90825" y="223837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빨간 플래시 + HP바 감소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500" y="2219325"/>
            <a:ext cx="2857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15075" y="223837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피격음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0" y="2219325"/>
            <a:ext cx="1714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72575" y="223837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테두리 붉게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858500" y="2219325"/>
            <a:ext cx="3048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87075" y="223837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HP 감소 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1500" y="24288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0075" y="24479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웨이브 시작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62250" y="24288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90825" y="24479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'Wave N' 배너 슬라이드인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86500" y="24288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15075" y="24479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경고음 (짧게)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0" y="24288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72575" y="24479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858500" y="24288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87075" y="24479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매 웨이브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1500" y="2638425"/>
            <a:ext cx="2190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0075" y="265747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웨이브 클리어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62250" y="2638425"/>
            <a:ext cx="35242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90825" y="265747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'WAVE CLEAR' + 가장자리 플래시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86500" y="2638425"/>
            <a:ext cx="2857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15075" y="265747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클리어 팡파르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44000" y="2638425"/>
            <a:ext cx="1714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72575" y="265747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858500" y="2638425"/>
            <a:ext cx="3048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887075" y="265747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매 클리어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1500" y="28479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0075" y="28670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보스 등장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62250" y="28479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90825" y="28670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'WARNING!' + 화면 어두워짐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86500" y="28479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15075" y="28670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보스 등장 사운드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0" y="28479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72575" y="28670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슬로우 0.5초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58500" y="28479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887075" y="28670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보스 웨이브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1500" y="3057525"/>
            <a:ext cx="2190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0075" y="307657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보스 처치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62250" y="3057525"/>
            <a:ext cx="35242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90825" y="307657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대형 폭발 + Bit 비산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86500" y="3057525"/>
            <a:ext cx="2857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15075" y="307657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보스 처치 팡파르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44000" y="3057525"/>
            <a:ext cx="1714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72575" y="307657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슬로우 + 흔들림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858500" y="3057525"/>
            <a:ext cx="3048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887075" y="307657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보스 사망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1500" y="32670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0075" y="32861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타워 배치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62250" y="32670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90825" y="32861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마법진 출현 이펙트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86500" y="32670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15075" y="32861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배치음 (돌)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44000" y="32670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72575" y="32861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858500" y="32670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887075" y="32861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배치 시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71500" y="3476625"/>
            <a:ext cx="2190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00075" y="349567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타워 합성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62250" y="3476625"/>
            <a:ext cx="35242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90825" y="349567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발광 + 'Lv N!' 팝업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86500" y="3476625"/>
            <a:ext cx="2857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15075" y="349567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강화음 (글리산도)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0" y="3476625"/>
            <a:ext cx="1714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72575" y="349567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Lv4시 흔들림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858500" y="3476625"/>
            <a:ext cx="3048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887075" y="349567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합성 시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71500" y="36861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00075" y="37052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스테이지 클리어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62250" y="36861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790825" y="37052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밝기↑ + Core등장 + 금빛파티클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286500" y="36861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315075" y="37052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대형 팡파르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144000" y="36861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172575" y="37052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858500" y="36861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887075" y="37052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스테이지 클리어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71500" y="3895725"/>
            <a:ext cx="21907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00075" y="391477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HP &lt; 30%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762250" y="3895725"/>
            <a:ext cx="352425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790825" y="391477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붉은 바이넷 (지속)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286500" y="3895725"/>
            <a:ext cx="2857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315075" y="391477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심장박동 (반복)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144000" y="3895725"/>
            <a:ext cx="17145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172575" y="391477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858500" y="3895725"/>
            <a:ext cx="3048000" cy="2095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887075" y="391477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지속 경고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1500" y="4105275"/>
            <a:ext cx="21907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00075" y="4124325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HP &lt; 10%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762250" y="4105275"/>
            <a:ext cx="352425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790825" y="4124325"/>
            <a:ext cx="34671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바이넷 강도↑ + 펄스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86500" y="4105275"/>
            <a:ext cx="2857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15075" y="4124325"/>
            <a:ext cx="2800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심장박동 빨라짐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144000" y="4105275"/>
            <a:ext cx="17145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172575" y="4124325"/>
            <a:ext cx="1657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-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858500" y="4105275"/>
            <a:ext cx="3048000" cy="2095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887075" y="4124325"/>
            <a:ext cx="29908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E0DCD0"/>
                </a:solidFill>
              </a:defRPr>
            </a:pPr>
            <a:r>
              <a:t>위급 경고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71500" y="4505325"/>
            <a:ext cx="6667500" cy="15240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14375" y="4600575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카메라 셰이크 명세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14375" y="4886325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62000" y="4962525"/>
            <a:ext cx="62865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8030"/>
                </a:solidFill>
              </a:defRPr>
            </a:pPr>
            <a:r>
              <a:t>Cannon AoE (3+타격): intensity=0.05, duration=0.1s</a:t>
            </a:r>
          </a:p>
          <a:p>
            <a:pPr algn="l">
              <a:defRPr sz="1100" b="0">
                <a:solidFill>
                  <a:srgbClr val="D44040"/>
                </a:solidFill>
              </a:defRPr>
            </a:pPr>
            <a:r>
              <a:t>보스 등장: intensity=0.08, duration=0.3s</a:t>
            </a:r>
          </a:p>
          <a:p>
            <a:pPr algn="l">
              <a:defRPr sz="1100" b="1">
                <a:solidFill>
                  <a:srgbClr val="D44040"/>
                </a:solidFill>
              </a:defRPr>
            </a:pPr>
            <a:r>
              <a:t>보스 처치: intensity=0.15, duration=0.5s</a:t>
            </a:r>
          </a:p>
          <a:p>
            <a:pPr algn="l">
              <a:defRPr sz="1100" b="0">
                <a:solidFill>
                  <a:srgbClr val="FFD84D"/>
                </a:solidFill>
              </a:defRPr>
            </a:pPr>
            <a:r>
              <a:t>타워 Lv4(MAX) 합성: intensity=0.03, duration=0.1s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기지 큰 피해 (3+): intensity=0.04, duration=0.15s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620000" y="4505325"/>
            <a:ext cx="6096000" cy="15240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762875" y="4600575"/>
            <a:ext cx="5810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크리티컬 시스템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762875" y="4886325"/>
            <a:ext cx="5810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810500" y="4962525"/>
            <a:ext cx="571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</a:defRPr>
            </a:pPr>
            <a:r>
              <a:t>스킬 트리 '크리티컬 해금' 노드 필요</a:t>
            </a:r>
          </a:p>
          <a:p>
            <a:pPr algn="l">
              <a:defRPr sz="1200" b="1">
                <a:solidFill>
                  <a:srgbClr val="FFD84D"/>
                </a:solidFill>
              </a:defRPr>
            </a:pPr>
            <a:r>
              <a:t>기본 확률: 15% / 기본 배율: 2.0x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시각: 금색 데미지 숫자 + 별 파티클 + 잠깐 밝아짐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사운드: 강조된 '크랭' 사운드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8. 밸런싱 - 스테이지 1 웨이브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52500"/>
            <a:ext cx="952500" cy="28575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990600"/>
            <a:ext cx="8953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웨이브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0" y="952500"/>
            <a:ext cx="2667000" cy="28575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2575" y="990600"/>
            <a:ext cx="2609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Node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952500"/>
            <a:ext cx="1238250" cy="28575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9575" y="990600"/>
            <a:ext cx="11811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스폰 간격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9250" y="952500"/>
            <a:ext cx="857250" cy="28575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7825" y="990600"/>
            <a:ext cx="8001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지연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6500" y="952500"/>
            <a:ext cx="1143000" cy="28575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075" y="990600"/>
            <a:ext cx="1085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총 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0" y="952500"/>
            <a:ext cx="2286000" cy="28575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8075" y="990600"/>
            <a:ext cx="2228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총 Bit (처치)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15500" y="952500"/>
            <a:ext cx="4191000" cy="285750"/>
          </a:xfrm>
          <a:prstGeom prst="rect">
            <a:avLst/>
          </a:prstGeom>
          <a:solidFill>
            <a:srgbClr val="1A1828"/>
          </a:solidFill>
          <a:ln w="12700">
            <a:solidFill>
              <a:srgbClr val="B0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4075" y="990600"/>
            <a:ext cx="41338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B0A080"/>
                </a:solidFill>
              </a:defRPr>
            </a:pPr>
            <a:r>
              <a:t>설계 의도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38250"/>
            <a:ext cx="9525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125" y="1352550"/>
            <a:ext cx="8572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0" y="1238250"/>
            <a:ext cx="2667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1625" y="1352550"/>
            <a:ext cx="2571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Bit x5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1000" y="1238250"/>
            <a:ext cx="123825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8625" y="1352550"/>
            <a:ext cx="1143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1.2초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29250" y="1238250"/>
            <a:ext cx="85725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76875" y="1352550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3.0초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6500" y="1238250"/>
            <a:ext cx="1143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4125" y="1352550"/>
            <a:ext cx="1047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9500" y="1238250"/>
            <a:ext cx="2286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7125" y="1352550"/>
            <a:ext cx="2190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5500" y="1238250"/>
            <a:ext cx="4191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3125" y="1352550"/>
            <a:ext cx="4095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학습. 타워가 잡는다.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1714500"/>
            <a:ext cx="9525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125" y="1828800"/>
            <a:ext cx="8572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000" y="1714500"/>
            <a:ext cx="2667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1625" y="1828800"/>
            <a:ext cx="2571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Bit x8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1000" y="1714500"/>
            <a:ext cx="123825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8625" y="1828800"/>
            <a:ext cx="1143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1.0초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29250" y="1714500"/>
            <a:ext cx="85725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76875" y="1828800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3.0초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6500" y="1714500"/>
            <a:ext cx="1143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4125" y="1828800"/>
            <a:ext cx="1047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29500" y="1714500"/>
            <a:ext cx="2286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7125" y="1828800"/>
            <a:ext cx="2190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5500" y="1714500"/>
            <a:ext cx="4191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63125" y="1828800"/>
            <a:ext cx="4095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물량 증가. 타워 추가 유도.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" y="2190750"/>
            <a:ext cx="9525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125" y="2305050"/>
            <a:ext cx="8572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24000" y="2190750"/>
            <a:ext cx="2667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71625" y="2305050"/>
            <a:ext cx="2571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Bit x6 + Quick x3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91000" y="2190750"/>
            <a:ext cx="123825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38625" y="2305050"/>
            <a:ext cx="1143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0.8초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9250" y="2190750"/>
            <a:ext cx="85725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76875" y="2305050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3.0초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86500" y="2190750"/>
            <a:ext cx="1143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4125" y="2305050"/>
            <a:ext cx="1047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29500" y="2190750"/>
            <a:ext cx="2286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77125" y="2305050"/>
            <a:ext cx="2190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15500" y="2190750"/>
            <a:ext cx="4191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63125" y="2305050"/>
            <a:ext cx="4095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빠른 적 등장. 긴장감.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" y="2667000"/>
            <a:ext cx="9525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125" y="2781300"/>
            <a:ext cx="8572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24000" y="2667000"/>
            <a:ext cx="2667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1625" y="2781300"/>
            <a:ext cx="2571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Bit x10 + Quick x5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91000" y="2667000"/>
            <a:ext cx="123825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38625" y="2781300"/>
            <a:ext cx="1143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0.7초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29250" y="2667000"/>
            <a:ext cx="85725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76875" y="2781300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3.0초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500" y="2667000"/>
            <a:ext cx="1143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34125" y="2781300"/>
            <a:ext cx="1047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29500" y="2667000"/>
            <a:ext cx="2286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77125" y="2781300"/>
            <a:ext cx="2190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15500" y="2667000"/>
            <a:ext cx="4191000" cy="47625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63125" y="2781300"/>
            <a:ext cx="4095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8030"/>
                </a:solidFill>
              </a:defRPr>
            </a:pPr>
            <a:r>
              <a:t>물량 압박. 초기 사망 구간.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1500" y="3143250"/>
            <a:ext cx="9525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9125" y="3257550"/>
            <a:ext cx="8572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24000" y="3143250"/>
            <a:ext cx="2667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71625" y="3257550"/>
            <a:ext cx="2571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Bit x8 + Quick x4 + Heavy x2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91000" y="3143250"/>
            <a:ext cx="123825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38625" y="3257550"/>
            <a:ext cx="1143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0.6초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29250" y="3143250"/>
            <a:ext cx="85725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76875" y="3257550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5.0초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86500" y="3143250"/>
            <a:ext cx="1143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34125" y="3257550"/>
            <a:ext cx="1047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14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29500" y="3143250"/>
            <a:ext cx="2286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77125" y="3257550"/>
            <a:ext cx="2190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60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715500" y="3143250"/>
            <a:ext cx="4191000" cy="47625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63125" y="3257550"/>
            <a:ext cx="4095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44040"/>
                </a:solidFill>
              </a:defRPr>
            </a:pPr>
            <a:r>
              <a:t>최종. 첫 클리어 시 성취감.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71500" y="3714750"/>
            <a:ext cx="6667500" cy="857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4375" y="3810000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합계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4375" y="4095750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2000" y="4171950"/>
            <a:ext cx="6286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D470"/>
                </a:solidFill>
              </a:defRPr>
            </a:pPr>
            <a:r>
              <a:t>처치 Bit: 15+24+30+50+60 = 179 Bit</a:t>
            </a:r>
          </a:p>
          <a:p>
            <a:pPr algn="l">
              <a:defRPr sz="1200" b="1">
                <a:solidFill>
                  <a:srgbClr val="FFD84D"/>
                </a:solidFill>
              </a:defRPr>
            </a:pPr>
            <a:r>
              <a:t>클리어 보너스: 15+20+25+30 = 90 Bit | 합계: 269 Bit + Core 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71500" y="4762500"/>
            <a:ext cx="6667500" cy="1714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4375" y="4857750"/>
            <a:ext cx="6381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DPS 비율 검증 (영구 업그레이드 0)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4375" y="5143500"/>
            <a:ext cx="6381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2000" y="5219700"/>
            <a:ext cx="6286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A870"/>
                </a:solidFill>
              </a:defRPr>
            </a:pPr>
            <a:r>
              <a:t>Arrow Lv1 DPS: 10.0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Bit Node (HP 20): 처치 2.0초 (목표 1.5~2.5초 ✓)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Quick Node (HP 12, 속도 3.0): 처치 1.2초, 통과 가능성 있음 (의도)</a:t>
            </a:r>
          </a:p>
          <a:p>
            <a:pPr algn="l">
              <a:defRPr sz="1100" b="0">
                <a:solidFill>
                  <a:srgbClr val="E0DCD0"/>
                </a:solidFill>
              </a:defRPr>
            </a:pPr>
            <a:r>
              <a:t>Heavy Node (HP 80): Arrow 1기로 8.0초 (목표 6~10초 ✓)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런당 생존 시간 (초기): 30초~1분 → 빠른 죽음 → 빠른 재시도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620000" y="3714750"/>
            <a:ext cx="6096000" cy="27622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62875" y="3810000"/>
            <a:ext cx="58102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첫 런 ~ 첫 클리어 경험 곡선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762875" y="4095750"/>
            <a:ext cx="58102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10500" y="4171950"/>
            <a:ext cx="5715000" cy="219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DCD0"/>
                </a:solidFill>
              </a:defRPr>
            </a:pPr>
            <a:r>
              <a:t>런 1 (업그레이드 0):</a:t>
            </a:r>
          </a:p>
          <a:p>
            <a:pPr algn="l">
              <a:defRPr sz="1000" b="0">
                <a:solidFill>
                  <a:srgbClr val="A09890"/>
                </a:solidFill>
              </a:defRPr>
            </a:pPr>
            <a:r>
              <a:t>  Arrow 1기 자동배치 → W1 여유 → W2 빠듯 → W3~4 사망</a:t>
            </a:r>
          </a:p>
          <a:p>
            <a:pPr algn="l">
              <a:defRPr sz="1000" b="0">
                <a:solidFill>
                  <a:srgbClr val="40D470"/>
                </a:solidFill>
              </a:defRPr>
            </a:pPr>
            <a:r>
              <a:t>  획득: ~80~100 Bit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200" b="1">
                <a:solidFill>
                  <a:srgbClr val="E0DCD0"/>
                </a:solidFill>
              </a:defRPr>
            </a:pPr>
            <a:r>
              <a:t>런 2~5 (공격력+1, 공속+1):</a:t>
            </a:r>
          </a:p>
          <a:p>
            <a:pPr algn="l">
              <a:defRPr sz="1000" b="0">
                <a:solidFill>
                  <a:srgbClr val="A09890"/>
                </a:solidFill>
              </a:defRPr>
            </a:pPr>
            <a:r>
              <a:t>  영구 업그레이드 체감. W3~4까지 안정 도달</a:t>
            </a:r>
          </a:p>
          <a:p>
            <a:pPr algn="l">
              <a:defRPr sz="1000" b="0">
                <a:solidFill>
                  <a:srgbClr val="40D470"/>
                </a:solidFill>
              </a:defRPr>
            </a:pPr>
            <a:r>
              <a:t>  획득: ~100~150 Bit / 런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200" b="1">
                <a:solidFill>
                  <a:srgbClr val="E0DCD0"/>
                </a:solidFill>
              </a:defRPr>
            </a:pPr>
            <a:r>
              <a:t>런 6~10 (공격+3, 공속+2, HP+2):</a:t>
            </a:r>
          </a:p>
          <a:p>
            <a:pPr algn="l">
              <a:defRPr sz="1000" b="0">
                <a:solidFill>
                  <a:srgbClr val="A09890"/>
                </a:solidFill>
              </a:defRPr>
            </a:pPr>
            <a:r>
              <a:t>  DPS 체감 상승. 타워 2~3기 운용. W4~5 진입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200" b="1">
                <a:solidFill>
                  <a:srgbClr val="FFD84D"/>
                </a:solidFill>
              </a:defRPr>
            </a:pPr>
            <a:r>
              <a:t>런 11~20: 스테이지 1 클리어 가능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총 플레이 시간: ~20~30분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4F0"/>
                </a:solidFill>
              </a:defRPr>
            </a:pPr>
            <a:r>
              <a:t>9. 구현 우선순위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666750"/>
            <a:ext cx="3810000" cy="19050"/>
          </a:xfrm>
          <a:prstGeom prst="rect">
            <a:avLst/>
          </a:prstGeom>
          <a:solidFill>
            <a:srgbClr val="B0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952500"/>
            <a:ext cx="3238500" cy="23622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4775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0D470"/>
                </a:solidFill>
              </a:defRPr>
            </a:pPr>
            <a:r>
              <a:t>Phase 1: 핵심 전투 루프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50" y="135255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4478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1-1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14478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PlacementGrid (격자 배치 판정)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6125" y="14668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6125" y="14763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17145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1-2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17145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TowerDragController (드래그 배치)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6125" y="17335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6125" y="17430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19812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1-3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19812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타워 인벤토리 시스템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6125" y="20002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6125" y="20097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22479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1-4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22479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웨이브 클리어 이벤트 + 보너스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6125" y="22669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6125" y="22764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25146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1-5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450" y="25146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콤보 시스템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86125" y="25336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6125" y="25431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27813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1-6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450" y="27813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데미지 숫자 팝업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86125" y="28003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86125" y="28098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52875" y="952500"/>
            <a:ext cx="3238500" cy="20955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48125" y="104775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08030"/>
                </a:solidFill>
              </a:defRPr>
            </a:pPr>
            <a:r>
              <a:t>Phase 2: 타워 특수 능력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48125" y="135255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8125" y="14478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2-1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4825" y="14478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CannonProjectile (AoE)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500" y="14668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7500" y="14763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8125" y="17145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2-2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4825" y="17145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Node 감속 + IceProjectile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500" y="17335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0" y="17430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48125" y="19812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2-3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4825" y="19812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LightningTower (체인 공격)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7500" y="20002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7500" y="20097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44040"/>
                </a:solidFill>
              </a:defRPr>
            </a:pPr>
            <a:r>
              <a:t>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48125" y="22479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2-4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4825" y="22479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LaserTower (빔 + 쿨다운)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67500" y="22669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500" y="22764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44040"/>
                </a:solidFill>
              </a:defRPr>
            </a:pPr>
            <a:r>
              <a:t>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8125" y="25146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2-5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4825" y="25146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VoidTower (범위 지속)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67500" y="25336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67500" y="25431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34250" y="952500"/>
            <a:ext cx="3238500" cy="23622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906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29500" y="104775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9060D0"/>
                </a:solidFill>
              </a:defRPr>
            </a:pPr>
            <a:r>
              <a:t>Phase 3: Node 특수 능력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29500" y="135255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9500" y="14478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3-1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96200" y="14478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NodeAbility 기반 구조 변경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048875" y="14668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48875" y="14763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9500" y="17145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3-2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6200" y="17145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ShieldAbility (방어력)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48875" y="17335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48875" y="17430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29500" y="19812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3-3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96200" y="19812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RegenAbility (회복)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48875" y="20002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48875" y="20097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29500" y="22479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3-4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96200" y="22479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PhaseAbility (무적)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48875" y="22669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48875" y="22764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29500" y="25146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3-5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96200" y="25146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SplitAbility (분열)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48875" y="25336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48875" y="25431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44040"/>
                </a:solidFill>
              </a:defRPr>
            </a:pPr>
            <a:r>
              <a:t>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29500" y="27813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3-6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96200" y="27813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BossAbility (연출)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048875" y="28003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48875" y="28098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715625" y="952500"/>
            <a:ext cx="3238500" cy="236220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10875" y="104775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080D4"/>
                </a:solidFill>
              </a:defRPr>
            </a:pPr>
            <a:r>
              <a:t>Phase 4: 시스템 보완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810875" y="1352550"/>
            <a:ext cx="304800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810875" y="14478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4-1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77575" y="14478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타워 배치 SaveData 저장/복원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3430250" y="14668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430250" y="14763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10875" y="17145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4-2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77575" y="17145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RunModifiers 확장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430250" y="17335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430250" y="17430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10875" y="19812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4-3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77575" y="19812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크리티컬 시스템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3430250" y="20002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430250" y="20097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0D470"/>
                </a:solidFill>
              </a:defRPr>
            </a:pPr>
            <a:r>
              <a:t>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10875" y="22479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4-4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77575" y="22479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다중 경로 지원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3430250" y="22669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430250" y="22764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810875" y="25146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4-5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77575" y="25146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전투 피드백/이펙트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430250" y="25336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430250" y="25431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44040"/>
                </a:solidFill>
              </a:defRPr>
            </a:pPr>
            <a:r>
              <a:t>중~상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10875" y="2781300"/>
            <a:ext cx="238125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4-6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77575" y="2781300"/>
            <a:ext cx="2286000" cy="209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보물상자 시스템 (Hub)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3430250" y="2800350"/>
            <a:ext cx="381000" cy="171450"/>
          </a:xfrm>
          <a:prstGeom prst="roundRect">
            <a:avLst/>
          </a:prstGeom>
          <a:solidFill>
            <a:srgbClr val="12101A"/>
          </a:solidFill>
          <a:ln w="127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3430250" y="2809875"/>
            <a:ext cx="38100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E08030"/>
                </a:solidFill>
              </a:defRPr>
            </a:pPr>
            <a:r>
              <a:t>중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71500" y="6953250"/>
            <a:ext cx="13144500" cy="1428750"/>
          </a:xfrm>
          <a:prstGeom prst="roundRect">
            <a:avLst/>
          </a:prstGeom>
          <a:solidFill>
            <a:srgbClr val="1A1828"/>
          </a:solidFill>
          <a:ln w="254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14375" y="7048500"/>
            <a:ext cx="12858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E4F0"/>
                </a:solidFill>
              </a:defRPr>
            </a:pPr>
            <a:r>
              <a:t>배속 / 일시정지 시스템 (보완)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4375" y="7334250"/>
            <a:ext cx="12858750" cy="9525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2000" y="7410450"/>
            <a:ext cx="12763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배속 단계: x1, x2, x3 → x1만 기본, x2/x3은 '배속 해금' Core 노드 필요</a:t>
            </a:r>
          </a:p>
          <a:p>
            <a:pPr algn="l">
              <a:defRPr sz="1200" b="1">
                <a:solidFill>
                  <a:srgbClr val="D44040"/>
                </a:solidFill>
              </a:defRPr>
            </a:pPr>
            <a:r>
              <a:t>일시정지 중 타워 배치/합성: 불가 (총괄PD 확정)</a:t>
            </a:r>
          </a:p>
          <a:p>
            <a:pPr algn="l">
              <a:defRPr sz="1200" b="0">
                <a:solidFill>
                  <a:srgbClr val="A09890"/>
                </a:solidFill>
              </a:defRPr>
            </a:pPr>
            <a:r>
              <a:t>배속 중 이펙트: Time.deltaTime 기반이므로 자동 단축</a:t>
            </a:r>
          </a:p>
          <a:p>
            <a:pPr algn="l">
              <a:defRPr sz="400" b="0">
                <a:solidFill>
                  <a:srgbClr val="A09890"/>
                </a:solidFill>
              </a:defRPr>
            </a:pP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스테이지별 권장: S1 Arrow x3~4 / S2 +Cannon / S3 +Ice / S4~5 +Lightning</a:t>
            </a:r>
          </a:p>
          <a:p>
            <a:pPr algn="l">
              <a:defRPr sz="1100" b="0">
                <a:solidFill>
                  <a:srgbClr val="A09890"/>
                </a:solidFill>
              </a:defRPr>
            </a:pPr>
            <a:r>
              <a:t>S6~7 +Laser / S8~9 +Void / S10 전 타워 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