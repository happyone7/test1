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0500" y="95250"/>
            <a:ext cx="4762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9A3D"/>
                </a:solidFill>
              </a:defRPr>
            </a:pPr>
            <a:r>
              <a:t>Slide 1: Title Screen (Game Start)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81000"/>
            <a:ext cx="18288000" cy="9906000"/>
          </a:xfrm>
          <a:prstGeom prst="rect">
            <a:avLst/>
          </a:prstGeom>
          <a:solidFill>
            <a:srgbClr val="0B0F1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625" y="400050"/>
            <a:ext cx="2857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Background: (0,0) 1920x1080 #0B0F1A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1500" y="1905000"/>
            <a:ext cx="9525000" cy="952500"/>
          </a:xfrm>
          <a:prstGeom prst="rect">
            <a:avLst/>
          </a:prstGeom>
          <a:noFill/>
          <a:ln w="127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0" y="2000250"/>
            <a:ext cx="9525000" cy="952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2BFF88"/>
                </a:solidFill>
              </a:defRPr>
            </a:pPr>
            <a:r>
              <a:t>NODEBREAKER 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1500" y="173355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Title: (460,160) 1000x100px, 48pt Bold, #2BFF88, Anchor=Center-Center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1500" y="3048000"/>
            <a:ext cx="9525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AFC3E8"/>
                </a:solidFill>
              </a:defRPr>
            </a:pPr>
            <a:r>
              <a:t>Defend the Network. Break the Nodes.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1500" y="289560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Subtitle: (460,320) 1000x40px, 16pt, #AFC3E8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9000" y="4572000"/>
            <a:ext cx="3810000" cy="571500"/>
          </a:xfrm>
          <a:prstGeom prst="roundRect">
            <a:avLst/>
          </a:prstGeom>
          <a:solidFill>
            <a:srgbClr val="121A2A"/>
          </a:solidFill>
          <a:ln w="254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9000" y="4686300"/>
            <a:ext cx="3810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2BFF88"/>
                </a:solidFill>
              </a:defRPr>
            </a:pPr>
            <a:r>
              <a:t>[ Start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0" y="466725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Btn 'Start': (760,480) 400x60px, Border #2BFF88, 20pt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0" y="5334000"/>
            <a:ext cx="3810000" cy="571500"/>
          </a:xfrm>
          <a:prstGeom prst="roundRect">
            <a:avLst/>
          </a:prstGeom>
          <a:solidFill>
            <a:srgbClr val="121A2A"/>
          </a:solidFill>
          <a:ln w="25400">
            <a:solidFill>
              <a:srgbClr val="3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0" y="5448300"/>
            <a:ext cx="3810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37B6FF"/>
                </a:solidFill>
              </a:defRPr>
            </a:pPr>
            <a:r>
              <a:t>[ Settings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44250" y="542925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Btn 'Settings': (760,560) 400x60px, Border #37B6FF, 20pt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9000" y="6096000"/>
            <a:ext cx="3810000" cy="571500"/>
          </a:xfrm>
          <a:prstGeom prst="roundRect">
            <a:avLst/>
          </a:prstGeom>
          <a:solidFill>
            <a:srgbClr val="121A2A"/>
          </a:solidFill>
          <a:ln w="25400">
            <a:solidFill>
              <a:srgbClr val="FF4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9000" y="6210300"/>
            <a:ext cx="3810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4D5A"/>
                </a:solidFill>
              </a:defRPr>
            </a:pPr>
            <a:r>
              <a:t>[ Quit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44250" y="619125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Btn 'Quit': (760,640) 400x60px, Border #FF4D5A, 20pt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" y="7429500"/>
            <a:ext cx="5715000" cy="266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A3D"/>
                </a:solidFill>
              </a:defRPr>
            </a:pPr>
            <a:r>
              <a:t>SPEC NOTES - Title Screen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</a:p>
          <a:p>
            <a:pPr algn="l">
              <a:defRPr sz="1000" b="1">
                <a:solidFill>
                  <a:srgbClr val="D8E4FF"/>
                </a:solidFill>
              </a:defRPr>
            </a:pPr>
            <a:r>
              <a:t>Layout: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- Resolution: 1920x1080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- All elements centered horizontally (Anchor: Center)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- Title Y=200, Buttons start Y=480, gap=20px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</a:p>
          <a:p>
            <a:pPr algn="l">
              <a:defRPr sz="1000" b="1">
                <a:solidFill>
                  <a:srgbClr val="D8E4FF"/>
                </a:solidFill>
              </a:defRPr>
            </a:pPr>
            <a:r>
              <a:t>Unity RectTransform: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- Background: Stretch-Stretch, all offsets=0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- Title: Anchor=Top-Center, Pivot=(0.5, 0.5)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- Buttons: Anchor=Top-Center, Pivot=(0.5, 0.5)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- Button spacing: 80px between centers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</a:p>
          <a:p>
            <a:pPr algn="l">
              <a:defRPr sz="1000" b="1">
                <a:solidFill>
                  <a:srgbClr val="D8E4FF"/>
                </a:solidFill>
              </a:defRPr>
            </a:pPr>
            <a:r>
              <a:t>Colors: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- BG: #0B0F1A | Panel: #121A2A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- Start btn border: #2BFF88 | Settings: #37B6FF | Quit: #FF4D5A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- Title text: #2BFF88 48pt Bold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</a:p>
          <a:p>
            <a:pPr algn="l">
              <a:defRPr sz="1000" b="1">
                <a:solidFill>
                  <a:srgbClr val="D8E4FF"/>
                </a:solidFill>
              </a:defRPr>
            </a:pPr>
            <a:r>
              <a:t>Interaction: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- Hover: border glow intensity +50%, fill lighten to #1A243A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- Click: scale 0.95x for 0.1s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0500" y="95250"/>
            <a:ext cx="4762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9A3D"/>
                </a:solidFill>
              </a:defRPr>
            </a:pPr>
            <a:r>
              <a:t>Slide 2: Hub Screen (Skill Tree)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81000"/>
            <a:ext cx="18288000" cy="47625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625" y="238125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Top Bar: (0,0) 1920x50px, Fill=#121A2A, Border-bottom=#5B6B8A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" y="457200"/>
            <a:ext cx="1905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BFF88"/>
                </a:solidFill>
              </a:defRPr>
            </a:pPr>
            <a:r>
              <a:t>Bit: 1,250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500" y="809625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Bit: (20,8) 200x35px, 16pt Bold, #2BFF88, Anchor=Left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57200"/>
            <a:ext cx="1905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B86CFF"/>
                </a:solidFill>
              </a:defRPr>
            </a:pPr>
            <a:r>
              <a:t>Core: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809625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Core: (240,8) 200x35px, 16pt Bold, #B86CFF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287500" y="438150"/>
            <a:ext cx="3810000" cy="361950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82750" y="476250"/>
            <a:ext cx="3619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D84D"/>
                </a:solidFill>
              </a:defRPr>
            </a:pPr>
            <a:r>
              <a:t>Idle Bit: 150  [Claim!]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87500" y="809625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Idle Btn: (1500,6) 400x38px, #FFD84D border, visible when Idle&gt;0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904875"/>
            <a:ext cx="18288000" cy="8477250"/>
          </a:xfrm>
          <a:prstGeom prst="rect">
            <a:avLst/>
          </a:prstGeom>
          <a:solidFill>
            <a:srgbClr val="0B0F1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" y="923925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Skill Tree Area: (0,55) 1920x890px, Scrollable+Zoomable, Anchor=Stretch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10625" y="4810125"/>
            <a:ext cx="666750" cy="666750"/>
          </a:xfrm>
          <a:prstGeom prst="roundRect">
            <a:avLst/>
          </a:prstGeom>
          <a:solidFill>
            <a:srgbClr val="2BFF8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10625" y="5048250"/>
            <a:ext cx="666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B0F1A"/>
                </a:solidFill>
              </a:defRPr>
            </a:pPr>
            <a:r>
              <a:t>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0" y="4762500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Core Node: center of screen, 70x70px, Fill=#2BFF88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58250" y="3714750"/>
            <a:ext cx="571500" cy="571500"/>
          </a:xfrm>
          <a:prstGeom prst="roundRect">
            <a:avLst/>
          </a:prstGeom>
          <a:solidFill>
            <a:srgbClr val="153020"/>
          </a:solidFill>
          <a:ln w="254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58250" y="3857625"/>
            <a:ext cx="571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2BFF88"/>
                </a:solidFill>
              </a:defRPr>
            </a:pPr>
            <a:r>
              <a:t>ATK+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58250" y="6000750"/>
            <a:ext cx="571500" cy="571500"/>
          </a:xfrm>
          <a:prstGeom prst="roundRect">
            <a:avLst/>
          </a:prstGeom>
          <a:solidFill>
            <a:srgbClr val="153020"/>
          </a:solidFill>
          <a:ln w="254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58250" y="6143625"/>
            <a:ext cx="571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2BFF88"/>
                </a:solidFill>
              </a:defRPr>
            </a:pPr>
            <a:r>
              <a:t>HP+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24750" y="4857750"/>
            <a:ext cx="571500" cy="571500"/>
          </a:xfrm>
          <a:prstGeom prst="roundRect">
            <a:avLst/>
          </a:prstGeom>
          <a:solidFill>
            <a:srgbClr val="121A2A"/>
          </a:solidFill>
          <a:ln w="25400">
            <a:solidFill>
              <a:srgbClr val="3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4750" y="5000625"/>
            <a:ext cx="571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37B6FF"/>
                </a:solidFill>
              </a:defRPr>
            </a:pPr>
            <a:r>
              <a:t>RNG+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91750" y="4857750"/>
            <a:ext cx="571500" cy="571500"/>
          </a:xfrm>
          <a:prstGeom prst="roundRect">
            <a:avLst/>
          </a:prstGeom>
          <a:solidFill>
            <a:srgbClr val="121A2A"/>
          </a:solidFill>
          <a:ln w="25400">
            <a:solidFill>
              <a:srgbClr val="3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91750" y="5000625"/>
            <a:ext cx="571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37B6FF"/>
                </a:solidFill>
              </a:defRPr>
            </a:pPr>
            <a:r>
              <a:t>SPD+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58250" y="2571750"/>
            <a:ext cx="571500" cy="5715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58250" y="2714625"/>
            <a:ext cx="571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5B6B8A"/>
                </a:solidFill>
              </a:defRPr>
            </a:pPr>
            <a:r>
              <a:t>Bit+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91750" y="3714750"/>
            <a:ext cx="571500" cy="5715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91750" y="3857625"/>
            <a:ext cx="571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5B6B8A"/>
                </a:solidFill>
              </a:defRPr>
            </a:pPr>
            <a:r>
              <a:t>CRIT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24750" y="3714750"/>
            <a:ext cx="571500" cy="5715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21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24750" y="3857625"/>
            <a:ext cx="571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21A2A"/>
                </a:solidFill>
              </a:defRPr>
            </a:pPr>
            <a:r>
              <a:t>HEAL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525250" y="4857750"/>
            <a:ext cx="571500" cy="5715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525250" y="5000625"/>
            <a:ext cx="571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5B6B8A"/>
                </a:solidFill>
              </a:defRPr>
            </a:pPr>
            <a:r>
              <a:t>Cannon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1250" y="4857750"/>
            <a:ext cx="571500" cy="5715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21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1250" y="5000625"/>
            <a:ext cx="571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21A2A"/>
                </a:solidFill>
              </a:defRPr>
            </a:pPr>
            <a:r>
              <a:t>Idle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58250" y="7143750"/>
            <a:ext cx="571500" cy="5715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58250" y="7286625"/>
            <a:ext cx="571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5B6B8A"/>
                </a:solidFill>
              </a:defRPr>
            </a:pPr>
            <a:r>
              <a:t>Start$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91750" y="6000750"/>
            <a:ext cx="571500" cy="57150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121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91750" y="6143625"/>
            <a:ext cx="571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121A2A"/>
                </a:solidFill>
              </a:defRPr>
            </a:pPr>
            <a:r>
              <a:t>Ice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34475" y="4286250"/>
            <a:ext cx="28575" cy="523875"/>
          </a:xfrm>
          <a:prstGeom prst="rect">
            <a:avLst/>
          </a:prstGeom>
          <a:solidFill>
            <a:srgbClr val="2B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34475" y="5476875"/>
            <a:ext cx="28575" cy="523875"/>
          </a:xfrm>
          <a:prstGeom prst="rect">
            <a:avLst/>
          </a:prstGeom>
          <a:solidFill>
            <a:srgbClr val="2B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85750" y="1000125"/>
            <a:ext cx="2667000" cy="152400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1000" y="1076325"/>
            <a:ext cx="247650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8E4FF"/>
                </a:solidFill>
              </a:defRPr>
            </a:pPr>
            <a:r>
              <a:t>Node States:</a:t>
            </a:r>
          </a:p>
          <a:p>
            <a:pPr algn="l">
              <a:defRPr sz="900" b="0">
                <a:solidFill>
                  <a:srgbClr val="2BFF88"/>
                </a:solidFill>
              </a:defRPr>
            </a:pPr>
            <a:r>
              <a:t>Active: Bright fill + glow border</a:t>
            </a:r>
          </a:p>
          <a:p>
            <a:pPr algn="l">
              <a:defRPr sz="900" b="0">
                <a:solidFill>
                  <a:srgbClr val="37B6FF"/>
                </a:solidFill>
              </a:defRPr>
            </a:pPr>
            <a:r>
              <a:t>Purchasable: Pulsing border + cost shown</a:t>
            </a:r>
          </a:p>
          <a:p>
            <a:pPr algn="l">
              <a:defRPr sz="900" b="0">
                <a:solidFill>
                  <a:srgbClr val="5B6B8A"/>
                </a:solidFill>
              </a:defRPr>
            </a:pPr>
            <a:r>
              <a:t>Locked: Dim, requires prerequisite</a:t>
            </a:r>
          </a:p>
          <a:p>
            <a:pPr algn="l">
              <a:defRPr sz="900" b="0">
                <a:solidFill>
                  <a:srgbClr val="1A243A"/>
                </a:solidFill>
              </a:defRPr>
            </a:pPr>
            <a:r>
              <a:t>Hidden: Invisible until neighbor unlocked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Node size: 60x60px, gap: 80px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Connection line: 2px, same color as node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9429750"/>
            <a:ext cx="18288000" cy="523875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625" y="9277350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Bottom Bar: (0,950) 1920x55px, Fill=#121A2A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90500" y="9505950"/>
            <a:ext cx="2857500" cy="361950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3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5750" y="9563100"/>
            <a:ext cx="2476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7B6FF"/>
                </a:solidFill>
              </a:defRPr>
            </a:pPr>
            <a:r>
              <a:t>Stage 1: Data Stream  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0500" y="988695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Stage Dropdown: (20,958) 300x38px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15250" y="9477375"/>
            <a:ext cx="2857500" cy="419100"/>
          </a:xfrm>
          <a:prstGeom prst="roundRect">
            <a:avLst/>
          </a:prstGeom>
          <a:solidFill>
            <a:srgbClr val="154025"/>
          </a:solidFill>
          <a:ln w="254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15250" y="9544050"/>
            <a:ext cx="28575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BFF88"/>
                </a:solidFill>
              </a:defRPr>
            </a:pPr>
            <a:r>
              <a:t>[ DEPLOY 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15250" y="9925050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Deploy Btn: (810,955) 300x44px, #2BFF88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6192500" y="9505950"/>
            <a:ext cx="952500" cy="361950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3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192500" y="9563100"/>
            <a:ext cx="952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7B6FF"/>
                </a:solidFill>
              </a:defRPr>
            </a:pPr>
            <a:r>
              <a:t>Settings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7240250" y="9505950"/>
            <a:ext cx="952500" cy="361950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FF4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7240250" y="9563100"/>
            <a:ext cx="952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FF4D5A"/>
                </a:solidFill>
              </a:defRPr>
            </a:pPr>
            <a:r>
              <a:t>Quit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192500" y="9886950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Settings/Quit: 100x38px each, right-aligned, gap=10px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58750" y="1000125"/>
            <a:ext cx="523875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A3D"/>
                </a:solidFill>
              </a:defRPr>
            </a:pPr>
            <a:r>
              <a:t>SPEC NOTES - Hub Screen</a:t>
            </a:r>
          </a:p>
          <a:p>
            <a:pPr algn="l">
              <a:defRPr sz="600" b="0">
                <a:solidFill>
                  <a:srgbClr val="AFC3E8"/>
                </a:solidFill>
              </a:defRPr>
            </a:pP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Structure: Top Bar (50px) + Skill Tree (stretch) + Bottom Bar (55px)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Skill Tree: Pan=Right-click drag, Zoom=Scroll wheel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Node click -&gt; Purchase Popup (see Slide 5)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Progress indicator: 'Unlocked: 12/45' in top-right of tree area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Anchors: Top Bar=Top-Stretch, Bottom Bar=Bottom-Stretch, Tree=Stretch-All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0500" y="95250"/>
            <a:ext cx="4762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9A3D"/>
                </a:solidFill>
              </a:defRPr>
            </a:pPr>
            <a:r>
              <a:t>Slide 3: In-Game Screen (During Run)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81000"/>
            <a:ext cx="18288000" cy="476250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625" y="238125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HUD Bar: (0,0) 1920x50px, Fill=#121A2A, Anchor=Top-Stretch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457200"/>
            <a:ext cx="1905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D8E4FF"/>
                </a:solidFill>
              </a:defRPr>
            </a:pPr>
            <a:r>
              <a:t>Wave: 3/5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750" y="876300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Wave: (30,8) 200x35px, 18pt Bold, #D8E4FF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500" y="457200"/>
            <a:ext cx="1905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2BFF88"/>
                </a:solidFill>
              </a:defRPr>
            </a:pPr>
            <a:r>
              <a:t>Bit: 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7500" y="876300"/>
            <a:ext cx="2857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Bit: (300,8) 200x35px, 18pt Bold, #2BFF88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0" y="457200"/>
            <a:ext cx="1143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8E4FF"/>
                </a:solidFill>
              </a:defRPr>
            </a:pPr>
            <a:r>
              <a:t>Base HP: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15500" y="504825"/>
            <a:ext cx="3810000" cy="228600"/>
          </a:xfrm>
          <a:prstGeom prst="rect">
            <a:avLst/>
          </a:prstGeom>
          <a:solidFill>
            <a:srgbClr val="331111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34550" y="523875"/>
            <a:ext cx="3009900" cy="190500"/>
          </a:xfrm>
          <a:prstGeom prst="rect">
            <a:avLst/>
          </a:prstGeom>
          <a:solidFill>
            <a:srgbClr val="44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0" y="514350"/>
            <a:ext cx="3810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16 /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0" y="87630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HP Bar: (1020,13) 400x24px, fill proportional to HP%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11250" y="457200"/>
            <a:ext cx="428625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F4D5A"/>
                </a:solidFill>
              </a:defRPr>
            </a:pPr>
            <a:r>
              <a:t>&lt; HP &lt; 30%: red screen edge 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904875"/>
            <a:ext cx="18288000" cy="8096250"/>
          </a:xfrm>
          <a:prstGeom prst="rect">
            <a:avLst/>
          </a:prstGeom>
          <a:solidFill>
            <a:srgbClr val="080C16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25" y="923925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Game Map: (0,55) 1920x850px, Stretch-All, Grid overlay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5000" y="1666875"/>
            <a:ext cx="9525" cy="6858000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1666875"/>
            <a:ext cx="9525" cy="6858000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29000" y="1666875"/>
            <a:ext cx="9525" cy="6858000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91000" y="1666875"/>
            <a:ext cx="9525" cy="6858000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53000" y="1666875"/>
            <a:ext cx="9525" cy="6858000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0" y="1666875"/>
            <a:ext cx="9525" cy="6858000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05000" y="1666875"/>
            <a:ext cx="3810000" cy="9525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05000" y="2428875"/>
            <a:ext cx="3810000" cy="9525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05000" y="3190875"/>
            <a:ext cx="3810000" cy="9525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05000" y="3952875"/>
            <a:ext cx="3810000" cy="9525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05000" y="4714875"/>
            <a:ext cx="3810000" cy="9525"/>
          </a:xfrm>
          <a:prstGeom prst="rect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05000" y="1514475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Grid: 80x80px cells, #1A243A lines, 1px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14625" y="2476500"/>
            <a:ext cx="666750" cy="666750"/>
          </a:xfrm>
          <a:prstGeom prst="roundRect">
            <a:avLst/>
          </a:prstGeom>
          <a:solidFill>
            <a:srgbClr val="121A2A"/>
          </a:solidFill>
          <a:ln w="254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14625" y="2619375"/>
            <a:ext cx="6667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2BFF88"/>
                </a:solidFill>
              </a:defRPr>
            </a:pPr>
            <a:r>
              <a:t>Arrow</a:t>
            </a:r>
            <a:br/>
            <a:r>
              <a:t>Lv1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48050" y="2447925"/>
            <a:ext cx="723900" cy="723900"/>
          </a:xfrm>
          <a:prstGeom prst="rect">
            <a:avLst/>
          </a:prstGeom>
          <a:solidFill>
            <a:srgbClr val="153020"/>
          </a:solidFill>
          <a:ln w="127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6625" y="2667000"/>
            <a:ext cx="666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2BFF88"/>
                </a:solidFill>
              </a:defRPr>
            </a:pPr>
            <a:r>
              <a:t>empty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500" y="4238625"/>
            <a:ext cx="4762500" cy="76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AFC3E8"/>
                </a:solidFill>
              </a:defRPr>
            </a:pPr>
            <a:r>
              <a:t>[ Node Path ]</a:t>
            </a:r>
            <a:br/>
            <a:r>
              <a:t>(Nodes move along this route toward Base)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240000" y="4524375"/>
            <a:ext cx="762000" cy="762000"/>
          </a:xfrm>
          <a:prstGeom prst="roundRect">
            <a:avLst/>
          </a:prstGeom>
          <a:solidFill>
            <a:srgbClr val="121A2A"/>
          </a:solidFill>
          <a:ln w="25400">
            <a:solidFill>
              <a:srgbClr val="3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240000" y="4714875"/>
            <a:ext cx="762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37B6FF"/>
                </a:solidFill>
              </a:defRPr>
            </a:pPr>
            <a:r>
              <a:t>BASE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2500" y="4524375"/>
            <a:ext cx="762000" cy="762000"/>
          </a:xfrm>
          <a:prstGeom prst="roundRect">
            <a:avLst/>
          </a:prstGeom>
          <a:solidFill>
            <a:srgbClr val="121A2A"/>
          </a:solidFill>
          <a:ln w="25400">
            <a:solidFill>
              <a:srgbClr val="FF4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2500" y="4714875"/>
            <a:ext cx="762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FF4D5A"/>
                </a:solidFill>
              </a:defRPr>
            </a:pPr>
            <a:r>
              <a:t>SPAWN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9048750"/>
            <a:ext cx="18288000" cy="904875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625" y="8905875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Bottom Bar: (0,910) 1920x95px, Anchor=Bottom-Stretch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0500" y="9163050"/>
            <a:ext cx="666750" cy="666750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0500" y="9353550"/>
            <a:ext cx="666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2BFF88"/>
                </a:solidFill>
              </a:defRPr>
            </a:pPr>
            <a:r>
              <a:t>Arrow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2500" y="9163050"/>
            <a:ext cx="666750" cy="666750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2500" y="9353550"/>
            <a:ext cx="666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2BFF88"/>
                </a:solidFill>
              </a:defRPr>
            </a:pPr>
            <a:r>
              <a:t>Arrow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714500" y="9163050"/>
            <a:ext cx="666750" cy="666750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14500" y="9353550"/>
            <a:ext cx="666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2BFF88"/>
                </a:solidFill>
              </a:defRPr>
            </a:pPr>
            <a:r>
              <a:t>Cannon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0500" y="9972675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Inventory Slots: 70x70px each, gap=10px, Anchor=Bottom-Left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476500" y="9163050"/>
            <a:ext cx="666750" cy="666750"/>
          </a:xfrm>
          <a:prstGeom prst="roundRect">
            <a:avLst/>
          </a:prstGeom>
          <a:solidFill>
            <a:srgbClr val="1A243A"/>
          </a:solidFill>
          <a:ln w="2540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76500" y="9305925"/>
            <a:ext cx="666750" cy="381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D84D"/>
                </a:solidFill>
              </a:defRPr>
            </a:pPr>
            <a:r>
              <a:t>+ BUY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76500" y="9972675"/>
            <a:ext cx="2857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+Buy: (260,922) 70x70px, #FFD84D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4287500" y="9163050"/>
            <a:ext cx="571500" cy="333375"/>
          </a:xfrm>
          <a:prstGeom prst="roundRect">
            <a:avLst/>
          </a:prstGeom>
          <a:solidFill>
            <a:srgbClr val="153020"/>
          </a:solidFill>
          <a:ln w="127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287500" y="9220200"/>
            <a:ext cx="5715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2BFF88"/>
                </a:solidFill>
              </a:defRPr>
            </a:pPr>
            <a:r>
              <a:t>x1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4954250" y="9163050"/>
            <a:ext cx="571500" cy="333375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4954250" y="9220200"/>
            <a:ext cx="5715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5B6B8A"/>
                </a:solidFill>
              </a:defRPr>
            </a:pPr>
            <a:r>
              <a:t>x2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5621000" y="9163050"/>
            <a:ext cx="571500" cy="333375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5621000" y="9220200"/>
            <a:ext cx="5715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5B6B8A"/>
                </a:solidFill>
              </a:defRPr>
            </a:pPr>
            <a:r>
              <a:t>x3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6287750" y="9163050"/>
            <a:ext cx="571500" cy="333375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FF9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287750" y="9220200"/>
            <a:ext cx="5715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9A3D"/>
                </a:solidFill>
              </a:defRPr>
            </a:pPr>
            <a:r>
              <a:t>| |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287500" y="9544050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Speed btns: 60x35px, gap=10px | Pause: 60x35px, Anchor=Bottom-Right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62500" y="9210675"/>
            <a:ext cx="4762500" cy="571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AFC3E8"/>
                </a:solidFill>
              </a:defRPr>
            </a:pPr>
            <a:r>
              <a:t>Drag from inventory to map grid to place.</a:t>
            </a:r>
            <a:br/>
            <a:r>
              <a:t>Drag onto same tower to merge (level up).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335000" y="1000125"/>
            <a:ext cx="47625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A3D"/>
                </a:solidFill>
              </a:defRPr>
            </a:pPr>
            <a:r>
              <a:t>SPEC NOTES - In-Game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HUD Bar: fixed 50px, always visible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Map: fills remaining space between HUD and bottom bar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Grid cell: 80x80px (adjustable), tower sprite inside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Inventory: horizontal scroll if &gt;6 towers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Drag feedback: green highlight=valid, red=invalid, yellow=merge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Wave clear: full-screen flash 0.2s, 'WAVE CLEAR' center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0500" y="95250"/>
            <a:ext cx="5715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9A3D"/>
                </a:solidFill>
              </a:defRPr>
            </a:pPr>
            <a:r>
              <a:t>Slide 4: Run End Panel (Defeat / Stage Clear)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81000"/>
            <a:ext cx="18288000" cy="9906000"/>
          </a:xfrm>
          <a:prstGeom prst="rect">
            <a:avLst/>
          </a:prstGeom>
          <a:solidFill>
            <a:srgbClr val="050812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625" y="400050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Overlay: full screen, #050812 at 80% opacity (semi-transparent)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714500"/>
            <a:ext cx="7620000" cy="6667500"/>
          </a:xfrm>
          <a:prstGeom prst="rect">
            <a:avLst/>
          </a:prstGeom>
          <a:solidFill>
            <a:srgbClr val="121A2A"/>
          </a:solidFill>
          <a:ln w="25400">
            <a:solidFill>
              <a:srgbClr val="FF4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156210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Defeat Panel: (60,140) 800x700px, Center of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905000"/>
            <a:ext cx="7620000" cy="571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4D5A"/>
                </a:solidFill>
              </a:defRPr>
            </a:pPr>
            <a:r>
              <a:t>DEFEATED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9125" y="1905000"/>
            <a:ext cx="2857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Title: 36pt Bold, #FF4D5A, margin-top=20px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2667000"/>
            <a:ext cx="28575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FC3E8"/>
                </a:solidFill>
              </a:defRPr>
            </a:pPr>
            <a:r>
              <a:t>Wave Reached: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1500" y="2667000"/>
            <a:ext cx="3048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8E4FF"/>
                </a:solidFill>
              </a:defRPr>
            </a:pPr>
            <a:r>
              <a:t>4 /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500" y="3143250"/>
            <a:ext cx="28575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FC3E8"/>
                </a:solidFill>
              </a:defRPr>
            </a:pPr>
            <a:r>
              <a:t>Nodes Killed: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1500" y="3143250"/>
            <a:ext cx="3048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8E4FF"/>
                </a:solidFill>
              </a:defRPr>
            </a:pPr>
            <a:r>
              <a:t>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500" y="3619500"/>
            <a:ext cx="28575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FC3E8"/>
                </a:solidFill>
              </a:defRPr>
            </a:pPr>
            <a:r>
              <a:t>Bit Earned: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3619500"/>
            <a:ext cx="3048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8E4FF"/>
                </a:solidFill>
              </a:defRPr>
            </a:pPr>
            <a:r>
              <a:t>+185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500" y="4095750"/>
            <a:ext cx="28575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FC3E8"/>
                </a:solidFill>
              </a:defRPr>
            </a:pPr>
            <a:r>
              <a:t>Towers Found: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1500" y="4095750"/>
            <a:ext cx="3048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8E4FF"/>
                </a:solidFill>
              </a:defRPr>
            </a:pPr>
            <a:r>
              <a:t>[Arrow] [Cannon]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9125" y="2667000"/>
            <a:ext cx="2857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Stats: 16pt, rows gap=50px, left-col=#AFC3E8, right-col=#D8E4FF Bold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33500" y="7239000"/>
            <a:ext cx="2667000" cy="523875"/>
          </a:xfrm>
          <a:prstGeom prst="roundRect">
            <a:avLst/>
          </a:prstGeom>
          <a:solidFill>
            <a:srgbClr val="1A243A"/>
          </a:solidFill>
          <a:ln w="25400">
            <a:solidFill>
              <a:srgbClr val="3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33500" y="7353300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37B6FF"/>
                </a:solidFill>
              </a:defRPr>
            </a:pPr>
            <a:r>
              <a:t>[ Hub (Skill Tree) 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7239000"/>
            <a:ext cx="2667000" cy="523875"/>
          </a:xfrm>
          <a:prstGeom prst="roundRect">
            <a:avLst/>
          </a:prstGeom>
          <a:solidFill>
            <a:srgbClr val="1A243A"/>
          </a:solidFill>
          <a:ln w="254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7353300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BFF88"/>
                </a:solidFill>
              </a:defRPr>
            </a:pPr>
            <a:r>
              <a:t>[ Retry Now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500" y="781050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Buttons: 280x55px each, gap=60px, margin-bottom=65px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15500" y="1714500"/>
            <a:ext cx="7620000" cy="6667500"/>
          </a:xfrm>
          <a:prstGeom prst="rect">
            <a:avLst/>
          </a:prstGeom>
          <a:solidFill>
            <a:srgbClr val="121A2A"/>
          </a:solidFill>
          <a:ln w="254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5500" y="156210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Clear Panel: same size 800x700px, #2BFF88 border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5500" y="1905000"/>
            <a:ext cx="7620000" cy="5715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2BFF88"/>
                </a:solidFill>
              </a:defRPr>
            </a:pPr>
            <a:r>
              <a:t>STAGE CLEAR!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5500" y="2428875"/>
            <a:ext cx="7620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AFC3E8"/>
                </a:solidFill>
              </a:defRPr>
            </a:pPr>
            <a:r>
              <a:t>Stage 1: Data Stream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77500" y="2952750"/>
            <a:ext cx="28575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FC3E8"/>
                </a:solidFill>
              </a:defRPr>
            </a:pPr>
            <a:r>
              <a:t>Bit Earned: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25500" y="2952750"/>
            <a:ext cx="3048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8E4FF"/>
                </a:solidFill>
              </a:defRPr>
            </a:pPr>
            <a:r>
              <a:t>+230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77500" y="3429000"/>
            <a:ext cx="28575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FC3E8"/>
                </a:solidFill>
              </a:defRPr>
            </a:pPr>
            <a:r>
              <a:t>Core Earned: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25500" y="3429000"/>
            <a:ext cx="3048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B86CFF"/>
                </a:solidFill>
              </a:defRPr>
            </a:pPr>
            <a:r>
              <a:t>+2  (NEW!)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77500" y="3905250"/>
            <a:ext cx="28575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FC3E8"/>
                </a:solidFill>
              </a:defRPr>
            </a:pPr>
            <a:r>
              <a:t>Towers Found: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25500" y="3905250"/>
            <a:ext cx="30480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8E4FF"/>
                </a:solidFill>
              </a:defRPr>
            </a:pPr>
            <a:r>
              <a:t>[Arrow] [Arrow] [Ice]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87000" y="4667250"/>
            <a:ext cx="6477000" cy="762000"/>
          </a:xfrm>
          <a:prstGeom prst="rect">
            <a:avLst/>
          </a:prstGeom>
          <a:solidFill>
            <a:srgbClr val="152035"/>
          </a:solidFill>
          <a:ln w="1270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87000" y="4743450"/>
            <a:ext cx="6477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D84D"/>
                </a:solidFill>
              </a:defRPr>
            </a:pPr>
            <a:r>
              <a:t>New Stage Unlocked!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5029200"/>
            <a:ext cx="6477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D8E4FF"/>
                </a:solidFill>
              </a:defRPr>
            </a:pPr>
            <a:r>
              <a:t>Stage 2: Memory Block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77500" y="7239000"/>
            <a:ext cx="2667000" cy="523875"/>
          </a:xfrm>
          <a:prstGeom prst="roundRect">
            <a:avLst/>
          </a:prstGeom>
          <a:solidFill>
            <a:srgbClr val="1A243A"/>
          </a:solidFill>
          <a:ln w="25400">
            <a:solidFill>
              <a:srgbClr val="3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77500" y="7353300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37B6FF"/>
                </a:solidFill>
              </a:defRPr>
            </a:pPr>
            <a:r>
              <a:t>[ Hub 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16000" y="7239000"/>
            <a:ext cx="2667000" cy="523875"/>
          </a:xfrm>
          <a:prstGeom prst="roundRect">
            <a:avLst/>
          </a:prstGeom>
          <a:solidFill>
            <a:srgbClr val="1A243A"/>
          </a:solidFill>
          <a:ln w="254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0" y="7353300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BFF88"/>
                </a:solidFill>
              </a:defRPr>
            </a:pPr>
            <a:r>
              <a:t>[ Next Stage 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8667750"/>
            <a:ext cx="476250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A3D"/>
                </a:solidFill>
              </a:defRPr>
            </a:pPr>
            <a:r>
              <a:t>SPEC NOTES - Run End Panel</a:t>
            </a:r>
          </a:p>
          <a:p>
            <a:pPr algn="l">
              <a:defRPr sz="600" b="0">
                <a:solidFill>
                  <a:srgbClr val="AFC3E8"/>
                </a:solidFill>
              </a:defRPr>
            </a:pP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Both panels: centered on screen (only one shown at a time)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Panel size: 800x700px, Anchor=Center-Center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Overlay: full screen black at 80% opacity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Animation: panel slides up from bottom over 0.3s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'NEW!' label on Core: pulsing animation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Tower icons in stats: 50x50px inline sprites</a:t>
            </a:r>
          </a:p>
          <a:p>
            <a:pPr algn="l">
              <a:defRPr sz="900" b="0">
                <a:solidFill>
                  <a:srgbClr val="AFC3E8"/>
                </a:solidFill>
              </a:defRPr>
            </a:pPr>
            <a:r>
              <a:t>Defeat=red theme | Clear=green theme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0500" y="95250"/>
            <a:ext cx="4762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9A3D"/>
                </a:solidFill>
              </a:defRPr>
            </a:pPr>
            <a:r>
              <a:t>Slide 5: Popups &amp; Tooltips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381000" y="571500"/>
            <a:ext cx="3619500" cy="3238500"/>
          </a:xfrm>
          <a:prstGeom prst="rect">
            <a:avLst/>
          </a:prstGeom>
          <a:solidFill>
            <a:srgbClr val="121A2A"/>
          </a:solidFill>
          <a:ln w="254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428625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Skill Purchase Popup: 380x340px, Center of screen when opened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14375"/>
            <a:ext cx="3238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BFF88"/>
                </a:solidFill>
              </a:defRPr>
            </a:pPr>
            <a:r>
              <a:t>Attack Power  Lv3 -&gt; Lv4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095375"/>
            <a:ext cx="3238500" cy="9525"/>
          </a:xfrm>
          <a:prstGeom prst="rect">
            <a:avLst/>
          </a:prstGeom>
          <a:solidFill>
            <a:srgbClr val="5B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1190625"/>
            <a:ext cx="32385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D8E4FF"/>
                </a:solidFill>
              </a:defRPr>
            </a:pPr>
            <a:r>
              <a:t>Effect: Tower Damage +10%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524000"/>
            <a:ext cx="32385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FC3E8"/>
                </a:solidFill>
              </a:defRPr>
            </a:pPr>
            <a:r>
              <a:t>Current: x1.3  -&gt;  x1.4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1952625"/>
            <a:ext cx="32385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D84D"/>
                </a:solidFill>
              </a:defRPr>
            </a:pPr>
            <a:r>
              <a:t>Cost: 110 Bit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2500" y="2476500"/>
            <a:ext cx="2476500" cy="476250"/>
          </a:xfrm>
          <a:prstGeom prst="roundRect">
            <a:avLst/>
          </a:prstGeom>
          <a:solidFill>
            <a:srgbClr val="153020"/>
          </a:solidFill>
          <a:ln w="254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2500" y="2571750"/>
            <a:ext cx="24765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2BFF88"/>
                </a:solidFill>
              </a:defRPr>
            </a:pPr>
            <a:r>
              <a:t>[ Purchase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500" y="666750"/>
            <a:ext cx="28575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AFC3E8"/>
                </a:solidFill>
              </a:defRPr>
            </a:pPr>
            <a: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3905250"/>
            <a:ext cx="361950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A3D"/>
                </a:solidFill>
              </a:defRPr>
            </a:pPr>
            <a:r>
              <a:t>Skill Purchase Popup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Size: 380x340px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Anchor: Center-Center (overlay)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Title: 16pt Bold #2BFF88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Effect/Before-After: 13pt #D8E4FF/#AFC3E8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Cost: 15pt Bold #FFD84D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Buy btn: 260x50px, center-bottom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Close X: 30x25px, top-right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Insufficient funds: cost text turns #FF4D5A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Max level: btn disabled, 'MAX' 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62500" y="571500"/>
            <a:ext cx="3333750" cy="2857500"/>
          </a:xfrm>
          <a:prstGeom prst="rect">
            <a:avLst/>
          </a:prstGeom>
          <a:solidFill>
            <a:srgbClr val="121A2A"/>
          </a:solidFill>
          <a:ln w="25400">
            <a:solidFill>
              <a:srgbClr val="3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2500" y="428625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Tower Tooltip: 350x300px, appears near tower on hover/click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3000" y="714375"/>
            <a:ext cx="295275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37B6FF"/>
                </a:solidFill>
              </a:defRPr>
            </a:pPr>
            <a:r>
              <a:t>Arrow Tower  Lv2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53000" y="1047750"/>
            <a:ext cx="2952750" cy="9525"/>
          </a:xfrm>
          <a:prstGeom prst="rect">
            <a:avLst/>
          </a:prstGeom>
          <a:solidFill>
            <a:srgbClr val="5B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3000" y="1143000"/>
            <a:ext cx="1524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FC3E8"/>
                </a:solidFill>
              </a:defRPr>
            </a:pPr>
            <a:r>
              <a:t>Damage: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0" y="1143000"/>
            <a:ext cx="1143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8E4FF"/>
                </a:solidFill>
              </a:defRPr>
            </a:pPr>
            <a: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3000" y="1447800"/>
            <a:ext cx="1524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FC3E8"/>
                </a:solidFill>
              </a:defRPr>
            </a:pPr>
            <a:r>
              <a:t>Attack Speed: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0" y="1447800"/>
            <a:ext cx="1143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8E4FF"/>
                </a:solidFill>
              </a:defRPr>
            </a:pPr>
            <a:r>
              <a:t>0.7s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3000" y="1752600"/>
            <a:ext cx="1524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FC3E8"/>
                </a:solidFill>
              </a:defRPr>
            </a:pPr>
            <a:r>
              <a:t>Range: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0" y="1752600"/>
            <a:ext cx="1143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8E4FF"/>
                </a:solidFill>
              </a:defRPr>
            </a:pPr>
            <a:r>
              <a:t>3.2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3000" y="2057400"/>
            <a:ext cx="1524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FC3E8"/>
                </a:solidFill>
              </a:defRPr>
            </a:pPr>
            <a:r>
              <a:t>DPS: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500" y="2057400"/>
            <a:ext cx="1143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D8E4FF"/>
                </a:solidFill>
              </a:defRPr>
            </a:pPr>
            <a:r>
              <a:t>17.1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3000" y="2428875"/>
            <a:ext cx="295275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FC3E8"/>
                </a:solidFill>
              </a:defRPr>
            </a:pPr>
            <a:r>
              <a:t>Special: -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3000" y="2809875"/>
            <a:ext cx="295275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FF9A3D"/>
                </a:solidFill>
              </a:defRPr>
            </a:pPr>
            <a:r>
              <a:t>Sell: 17 Bit (70%)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2500" y="3524250"/>
            <a:ext cx="333375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A3D"/>
                </a:solidFill>
              </a:defRPr>
            </a:pPr>
            <a:r>
              <a:t>Tower Tooltip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Size: 350x300px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Position: adjacent to tower, avoid screen edge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Stats: 12pt, label=#AFC3E8, value=#D8E4FF Bold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Sell price: 11pt #FF9A3D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Show on: tower click (mobile/desktop)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48750" y="571500"/>
            <a:ext cx="3810000" cy="2857500"/>
          </a:xfrm>
          <a:prstGeom prst="rect">
            <a:avLst/>
          </a:prstGeom>
          <a:solidFill>
            <a:srgbClr val="121A2A"/>
          </a:solidFill>
          <a:ln w="254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48750" y="428625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Settings Popup: 400x300px, Center of screen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8750" y="714375"/>
            <a:ext cx="3810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D8E4FF"/>
                </a:solidFill>
              </a:defRPr>
            </a:pPr>
            <a:r>
              <a:t>Settings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34500" y="1095375"/>
            <a:ext cx="3238500" cy="9525"/>
          </a:xfrm>
          <a:prstGeom prst="rect">
            <a:avLst/>
          </a:prstGeom>
          <a:solidFill>
            <a:srgbClr val="5B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34500" y="1285875"/>
            <a:ext cx="9525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8E4FF"/>
                </a:solidFill>
              </a:defRPr>
            </a:pPr>
            <a:r>
              <a:t>BGM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87000" y="1352550"/>
            <a:ext cx="2095500" cy="76200"/>
          </a:xfrm>
          <a:prstGeom prst="rect">
            <a:avLst/>
          </a:prstGeom>
          <a:solidFill>
            <a:srgbClr val="1A243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287000" y="1352550"/>
            <a:ext cx="1466850" cy="76200"/>
          </a:xfrm>
          <a:prstGeom prst="rect">
            <a:avLst/>
          </a:prstGeom>
          <a:solidFill>
            <a:srgbClr val="3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1715750" y="1295400"/>
            <a:ext cx="152400" cy="19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287250" y="1285875"/>
            <a:ext cx="381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FC3E8"/>
                </a:solidFill>
              </a:defRPr>
            </a:pPr>
            <a:r>
              <a:t>70%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34500" y="1762125"/>
            <a:ext cx="9525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8E4FF"/>
                </a:solidFill>
              </a:defRPr>
            </a:pPr>
            <a:r>
              <a:t>SFX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87000" y="1828800"/>
            <a:ext cx="2095500" cy="76200"/>
          </a:xfrm>
          <a:prstGeom prst="rect">
            <a:avLst/>
          </a:prstGeom>
          <a:solidFill>
            <a:srgbClr val="1A243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287000" y="1828800"/>
            <a:ext cx="1885950" cy="76200"/>
          </a:xfrm>
          <a:prstGeom prst="rect">
            <a:avLst/>
          </a:prstGeom>
          <a:solidFill>
            <a:srgbClr val="37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2134850" y="1771650"/>
            <a:ext cx="152400" cy="19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287250" y="1762125"/>
            <a:ext cx="3810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FC3E8"/>
                </a:solidFill>
              </a:defRPr>
            </a:pPr>
            <a:r>
              <a:t>90%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91750" y="2762250"/>
            <a:ext cx="1524000" cy="428625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91750" y="2857500"/>
            <a:ext cx="1524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D8E4FF"/>
                </a:solidFill>
              </a:defRPr>
            </a:pPr>
            <a:r>
              <a:t>[ Close 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477750" y="666750"/>
            <a:ext cx="28575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AFC3E8"/>
                </a:solidFill>
              </a:defRPr>
            </a:pPr>
            <a:r>
              <a:t>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48750" y="3524250"/>
            <a:ext cx="3810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A3D"/>
                </a:solidFill>
              </a:defRPr>
            </a:pPr>
            <a:r>
              <a:t>Settings Popup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Size: 400x300px, Center-Center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Slider track: 220x8px, #1A243A bg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Slider fill: #37B6FF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Slider thumb: 16x20px, white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Close btn: 160x45px, center-bottom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811250" y="571500"/>
            <a:ext cx="4000500" cy="2381250"/>
          </a:xfrm>
          <a:prstGeom prst="rect">
            <a:avLst/>
          </a:prstGeom>
          <a:solidFill>
            <a:srgbClr val="121A2A"/>
          </a:solidFill>
          <a:ln w="2540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811250" y="428625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Idle Claim Popup: 420x250px, Center or top-center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811250" y="762000"/>
            <a:ext cx="4000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D84D"/>
                </a:solidFill>
              </a:defRPr>
            </a:pPr>
            <a:r>
              <a:t>Idle Reward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097000" y="1143000"/>
            <a:ext cx="3429000" cy="9525"/>
          </a:xfrm>
          <a:prstGeom prst="rect">
            <a:avLst/>
          </a:prstGeom>
          <a:solidFill>
            <a:srgbClr val="5B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811250" y="1333500"/>
            <a:ext cx="4000500" cy="381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BFF88"/>
                </a:solidFill>
              </a:defRPr>
            </a:pPr>
            <a:r>
              <a:t>+150 Bit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811250" y="1714500"/>
            <a:ext cx="4000500" cy="23812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AFC3E8"/>
                </a:solidFill>
              </a:defRPr>
            </a:pPr>
            <a:r>
              <a:t>Away for 1h 30m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763750" y="2190750"/>
            <a:ext cx="2095500" cy="476250"/>
          </a:xfrm>
          <a:prstGeom prst="roundRect">
            <a:avLst/>
          </a:prstGeom>
          <a:solidFill>
            <a:srgbClr val="302810"/>
          </a:solidFill>
          <a:ln w="2540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763750" y="2286000"/>
            <a:ext cx="20955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D84D"/>
                </a:solidFill>
              </a:defRPr>
            </a:pPr>
            <a:r>
              <a:t>[ Claim 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811250" y="3048000"/>
            <a:ext cx="4000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A3D"/>
                </a:solidFill>
              </a:defRPr>
            </a:pPr>
            <a:r>
              <a:t>Idle Claim Popup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Size: 420x250px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Shown: on Hub entry if idle_bit &gt; 0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Bit amount: 28pt Bold #2BFF88, animated count-up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Claim btn: 220x50px, #FFD84D border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Auto-dismiss: after claim, +Bit popup floats up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62500" y="6477000"/>
            <a:ext cx="4762500" cy="3238500"/>
          </a:xfrm>
          <a:prstGeom prst="rect">
            <a:avLst/>
          </a:prstGeom>
          <a:solidFill>
            <a:srgbClr val="121A2A"/>
          </a:solidFill>
          <a:ln w="2540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62500" y="6334125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9A3D"/>
                </a:solidFill>
              </a:defRPr>
            </a:pPr>
            <a:r>
              <a:t>Tower Buy Panel: 500x340px, appears above +BUY button in-game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62500" y="6572250"/>
            <a:ext cx="4762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D84D"/>
                </a:solidFill>
              </a:defRPr>
            </a:pPr>
            <a:r>
              <a:t>Buy Tower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53000" y="6905625"/>
            <a:ext cx="4381500" cy="9525"/>
          </a:xfrm>
          <a:prstGeom prst="rect">
            <a:avLst/>
          </a:prstGeom>
          <a:solidFill>
            <a:srgbClr val="5B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48250" y="7000875"/>
            <a:ext cx="4191000" cy="523875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38750" y="7115175"/>
            <a:ext cx="1905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8E4FF"/>
                </a:solidFill>
              </a:defRPr>
            </a:pPr>
            <a:r>
              <a:t>Arrow Tower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905750" y="7077075"/>
            <a:ext cx="1143000" cy="361950"/>
          </a:xfrm>
          <a:prstGeom prst="roundRect">
            <a:avLst/>
          </a:prstGeom>
          <a:solidFill>
            <a:srgbClr val="153020"/>
          </a:solidFill>
          <a:ln w="127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05750" y="7134225"/>
            <a:ext cx="1143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2BFF88"/>
                </a:solidFill>
              </a:defRPr>
            </a:pPr>
            <a:r>
              <a:t>30 Bit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48250" y="7620000"/>
            <a:ext cx="4191000" cy="523875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238750" y="7734300"/>
            <a:ext cx="1905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8E4FF"/>
                </a:solidFill>
              </a:defRPr>
            </a:pPr>
            <a:r>
              <a:t>Cannon Tower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905750" y="7696200"/>
            <a:ext cx="1143000" cy="361950"/>
          </a:xfrm>
          <a:prstGeom prst="roundRect">
            <a:avLst/>
          </a:prstGeom>
          <a:solidFill>
            <a:srgbClr val="153020"/>
          </a:solidFill>
          <a:ln w="127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05750" y="7753350"/>
            <a:ext cx="1143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2BFF88"/>
                </a:solidFill>
              </a:defRPr>
            </a:pPr>
            <a:r>
              <a:t>60 Bit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48250" y="8239125"/>
            <a:ext cx="4191000" cy="523875"/>
          </a:xfrm>
          <a:prstGeom prst="roundRect">
            <a:avLst/>
          </a:prstGeom>
          <a:solidFill>
            <a:srgbClr val="1A243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238750" y="8353425"/>
            <a:ext cx="1905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8E4FF"/>
                </a:solidFill>
              </a:defRPr>
            </a:pPr>
            <a:r>
              <a:t>Ice Tower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905750" y="8315325"/>
            <a:ext cx="1143000" cy="361950"/>
          </a:xfrm>
          <a:prstGeom prst="roundRect">
            <a:avLst/>
          </a:prstGeom>
          <a:solidFill>
            <a:srgbClr val="153020"/>
          </a:solidFill>
          <a:ln w="12700">
            <a:solidFill>
              <a:srgbClr val="2B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05750" y="8372475"/>
            <a:ext cx="1143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2BFF88"/>
                </a:solidFill>
              </a:defRPr>
            </a:pPr>
            <a:r>
              <a:t>45 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15500" y="6477000"/>
            <a:ext cx="3810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9A3D"/>
                </a:solidFill>
              </a:defRPr>
            </a:pPr>
            <a:r>
              <a:t>Tower Buy Panel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Size: 500x340px (expands with more towers)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Position: above +BUY button, Anchor=Bottom-Left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Only shows unlocked towers from skill tree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Each row: 55px height, tower icon + name + cost btn</a:t>
            </a:r>
          </a:p>
          <a:p>
            <a:pPr algn="l">
              <a:defRPr sz="800" b="0">
                <a:solidFill>
                  <a:srgbClr val="AFC3E8"/>
                </a:solidFill>
              </a:defRPr>
            </a:pPr>
            <a:r>
              <a:t>Locked towers: grayed out with lock icon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0500" y="95250"/>
            <a:ext cx="6667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9A3D"/>
                </a:solidFill>
              </a:defRPr>
            </a:pPr>
            <a:r>
              <a:t>Slide 6: Color Palette &amp; Typography Reference (Neon Circuit Board Theme)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476250"/>
            <a:ext cx="3810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D8E4FF"/>
                </a:solidFill>
              </a:defRPr>
            </a:pPr>
            <a:r>
              <a:t>Color Palette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857250"/>
            <a:ext cx="1714500" cy="523875"/>
          </a:xfrm>
          <a:prstGeom prst="rect">
            <a:avLst/>
          </a:prstGeom>
          <a:solidFill>
            <a:srgbClr val="0B0F1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6250" y="933450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#0B0F1A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1123950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BG Dark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0750" y="971550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Main background, game area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1476375"/>
            <a:ext cx="1714500" cy="523875"/>
          </a:xfrm>
          <a:prstGeom prst="rect">
            <a:avLst/>
          </a:prstGeom>
          <a:solidFill>
            <a:srgbClr val="121A2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6250" y="1552575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#121A2A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" y="1743075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Panel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1590675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Panel/card backgrounds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1000" y="2095500"/>
            <a:ext cx="1714500" cy="523875"/>
          </a:xfrm>
          <a:prstGeom prst="rect">
            <a:avLst/>
          </a:prstGeom>
          <a:solidFill>
            <a:srgbClr val="1A243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" y="2171700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#1A243A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250" y="2362200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Panel 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2209800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Hover states, lighter panels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1000" y="2714625"/>
            <a:ext cx="1714500" cy="523875"/>
          </a:xfrm>
          <a:prstGeom prst="rect">
            <a:avLst/>
          </a:prstGeom>
          <a:solidFill>
            <a:srgbClr val="5B6B8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250" y="2790825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#5B6B8A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250" y="2981325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Border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2828925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Default borders, dividers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1000" y="3333750"/>
            <a:ext cx="1714500" cy="523875"/>
          </a:xfrm>
          <a:prstGeom prst="rect">
            <a:avLst/>
          </a:prstGeom>
          <a:solidFill>
            <a:srgbClr val="D8E4FF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250" y="3409950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B0F1A"/>
                </a:solidFill>
              </a:defRPr>
            </a:pPr>
            <a:r>
              <a:t>#D8E4FF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" y="3600450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B0F1A"/>
                </a:solidFill>
              </a:defRPr>
            </a:pPr>
            <a:r>
              <a:t>Text 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3448050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Primary text, headings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1000" y="3952875"/>
            <a:ext cx="1714500" cy="523875"/>
          </a:xfrm>
          <a:prstGeom prst="rect">
            <a:avLst/>
          </a:prstGeom>
          <a:solidFill>
            <a:srgbClr val="AFC3E8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6250" y="4029075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B0F1A"/>
                </a:solidFill>
              </a:defRPr>
            </a:pPr>
            <a:r>
              <a:t>#AFC3E8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250" y="4219575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B0F1A"/>
                </a:solidFill>
              </a:defRPr>
            </a:pPr>
            <a:r>
              <a:t>Text Dim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4067175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Secondary text, labels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53500" y="857250"/>
            <a:ext cx="1714500" cy="523875"/>
          </a:xfrm>
          <a:prstGeom prst="rect">
            <a:avLst/>
          </a:prstGeom>
          <a:solidFill>
            <a:srgbClr val="2BFF88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48750" y="933450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B0F1A"/>
                </a:solidFill>
              </a:defRPr>
            </a:pPr>
            <a:r>
              <a:t>#2BFF88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48750" y="1123950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B0F1A"/>
                </a:solidFill>
              </a:defRPr>
            </a:pPr>
            <a:r>
              <a:t>Neon Green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63250" y="971550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Primary accent, active, success, HP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53500" y="1476375"/>
            <a:ext cx="1714500" cy="523875"/>
          </a:xfrm>
          <a:prstGeom prst="rect">
            <a:avLst/>
          </a:prstGeom>
          <a:solidFill>
            <a:srgbClr val="37B6FF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48750" y="1552575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B0F1A"/>
                </a:solidFill>
              </a:defRPr>
            </a:pPr>
            <a:r>
              <a:t>#37B6FF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48750" y="1743075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B0F1A"/>
                </a:solidFill>
              </a:defRPr>
            </a:pPr>
            <a:r>
              <a:t>Neon Blue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63250" y="1590675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Secondary accent, info, links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53500" y="2095500"/>
            <a:ext cx="1714500" cy="523875"/>
          </a:xfrm>
          <a:prstGeom prst="rect">
            <a:avLst/>
          </a:prstGeom>
          <a:solidFill>
            <a:srgbClr val="B86CFF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48750" y="2171700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B0F1A"/>
                </a:solidFill>
              </a:defRPr>
            </a:pPr>
            <a:r>
              <a:t>#B86CFF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48750" y="2362200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B0F1A"/>
                </a:solidFill>
              </a:defRPr>
            </a:pPr>
            <a:r>
              <a:t>Neon Purple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63250" y="2209800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Core resource, premium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53500" y="2714625"/>
            <a:ext cx="1714500" cy="523875"/>
          </a:xfrm>
          <a:prstGeom prst="rect">
            <a:avLst/>
          </a:prstGeom>
          <a:solidFill>
            <a:srgbClr val="FF9A3D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48750" y="2790825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B0F1A"/>
                </a:solidFill>
              </a:defRPr>
            </a:pPr>
            <a:r>
              <a:t>#FF9A3D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48750" y="2981325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B0F1A"/>
                </a:solidFill>
              </a:defRPr>
            </a:pPr>
            <a:r>
              <a:t>Orange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63250" y="2828925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Warning, highlights, sell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53500" y="3333750"/>
            <a:ext cx="1714500" cy="523875"/>
          </a:xfrm>
          <a:prstGeom prst="rect">
            <a:avLst/>
          </a:prstGeom>
          <a:solidFill>
            <a:srgbClr val="FF4D5A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48750" y="3409950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B0F1A"/>
                </a:solidFill>
              </a:defRPr>
            </a:pPr>
            <a:r>
              <a:t>#FF4D5A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48750" y="3600450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B0F1A"/>
                </a:solidFill>
              </a:defRPr>
            </a:pPr>
            <a:r>
              <a:t>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63250" y="3448050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Alert, danger, defeat, HP low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53500" y="3952875"/>
            <a:ext cx="1714500" cy="523875"/>
          </a:xfrm>
          <a:prstGeom prst="rect">
            <a:avLst/>
          </a:prstGeom>
          <a:solidFill>
            <a:srgbClr val="FFD84D"/>
          </a:solidFill>
          <a:ln w="12700">
            <a:solidFill>
              <a:srgbClr val="5B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48750" y="4029075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B0F1A"/>
                </a:solidFill>
              </a:defRPr>
            </a:pPr>
            <a:r>
              <a:t>#FFD84D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48750" y="4219575"/>
            <a:ext cx="1524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B0F1A"/>
                </a:solidFill>
              </a:defRPr>
            </a:pPr>
            <a:r>
              <a:t>Yellow/Gold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63250" y="4067175"/>
            <a:ext cx="2667000" cy="33337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Rare, idle reward, buy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1000" y="4762500"/>
            <a:ext cx="3810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D8E4FF"/>
                </a:solidFill>
              </a:defRPr>
            </a:pPr>
            <a:r>
              <a:t>Typography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1500" y="5095875"/>
            <a:ext cx="1524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8E4FF"/>
                </a:solidFill>
              </a:defRPr>
            </a:pPr>
            <a:r>
              <a:t>48pt Bold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86000" y="5095875"/>
            <a:ext cx="5715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FC3E8"/>
                </a:solidFill>
              </a:defRPr>
            </a:pPr>
            <a:r>
              <a:t>Game title (Title Screen)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" y="5400675"/>
            <a:ext cx="1524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8E4FF"/>
                </a:solidFill>
              </a:defRPr>
            </a:pPr>
            <a:r>
              <a:t>36pt Bold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86000" y="5400675"/>
            <a:ext cx="5715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FC3E8"/>
                </a:solidFill>
              </a:defRPr>
            </a:pPr>
            <a:r>
              <a:t>Major headings (DEFEATED, STAGE CLEAR)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1500" y="5705475"/>
            <a:ext cx="1524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8E4FF"/>
                </a:solidFill>
              </a:defRPr>
            </a:pPr>
            <a:r>
              <a:t>20pt Bold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86000" y="5705475"/>
            <a:ext cx="5715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FC3E8"/>
                </a:solidFill>
              </a:defRPr>
            </a:pPr>
            <a:r>
              <a:t>Popup titles (Settings, Idle Reward)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1500" y="6010275"/>
            <a:ext cx="1524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8E4FF"/>
                </a:solidFill>
              </a:defRPr>
            </a:pPr>
            <a:r>
              <a:t>18pt Bold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86000" y="6010275"/>
            <a:ext cx="5715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FC3E8"/>
                </a:solidFill>
              </a:defRPr>
            </a:pPr>
            <a:r>
              <a:t>HUD values (Wave, Bit, HP)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1500" y="6315075"/>
            <a:ext cx="1524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8E4FF"/>
                </a:solidFill>
              </a:defRPr>
            </a:pPr>
            <a:r>
              <a:t>16pt Bold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86000" y="6315075"/>
            <a:ext cx="5715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FC3E8"/>
                </a:solidFill>
              </a:defRPr>
            </a:pPr>
            <a:r>
              <a:t>Sub-headings, button text, stat values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1500" y="6619875"/>
            <a:ext cx="1524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8E4FF"/>
                </a:solidFill>
              </a:defRPr>
            </a:pPr>
            <a:r>
              <a:t>14pt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86000" y="6619875"/>
            <a:ext cx="5715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FC3E8"/>
                </a:solidFill>
              </a:defRPr>
            </a:pPr>
            <a:r>
              <a:t>Body text, stat labels, descriptions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1500" y="6924675"/>
            <a:ext cx="1524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8E4FF"/>
                </a:solidFill>
              </a:defRPr>
            </a:pPr>
            <a:r>
              <a:t>12pt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86000" y="6924675"/>
            <a:ext cx="5715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FC3E8"/>
                </a:solidFill>
              </a:defRPr>
            </a:pPr>
            <a:r>
              <a:t>Small labels, dropdown text, slider values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1500" y="7229475"/>
            <a:ext cx="1524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D8E4FF"/>
                </a:solidFill>
              </a:defRPr>
            </a:pPr>
            <a:r>
              <a:t>10pt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286000" y="7229475"/>
            <a:ext cx="5715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FC3E8"/>
                </a:solidFill>
              </a:defRPr>
            </a:pPr>
            <a:r>
              <a:t>Annotations, tooltips, secondary info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1500" y="7534275"/>
            <a:ext cx="1524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D8E4FF"/>
                </a:solidFill>
              </a:defRPr>
            </a:pPr>
            <a:r>
              <a:t>8pt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86000" y="7534275"/>
            <a:ext cx="5715000" cy="2667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AFC3E8"/>
                </a:solidFill>
              </a:defRPr>
            </a:pPr>
            <a:r>
              <a:t>Spec notes, dimension labels (dev only)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0" y="4762500"/>
            <a:ext cx="3810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D8E4FF"/>
                </a:solidFill>
              </a:defRPr>
            </a:pPr>
            <a:r>
              <a:t>Standard Element Sizes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34500" y="5095875"/>
            <a:ext cx="47625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Button (large): 300x55px, border=2px, radius=8px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34500" y="5343525"/>
            <a:ext cx="47625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Button (medium): 160x45px, border=1px, radius=6px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34500" y="5591175"/>
            <a:ext cx="47625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Button (small): 100x38px, border=1px, radius=4px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34500" y="5838825"/>
            <a:ext cx="47625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Speed button: 60x35px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34500" y="6086475"/>
            <a:ext cx="47625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Tower slot: 70x70px, gap=10px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34500" y="6334125"/>
            <a:ext cx="47625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Skill tree node: 60x60px, gap=80px center-to-center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34500" y="6581775"/>
            <a:ext cx="47625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Grid cell: 80x80px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34500" y="6829425"/>
            <a:ext cx="47625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HP bar: 400x24px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34500" y="7077075"/>
            <a:ext cx="47625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Slider track: 220x8px, thumb=16x20px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34500" y="7324725"/>
            <a:ext cx="47625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Top/Bottom bar: full-width x 50~55px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34500" y="7572375"/>
            <a:ext cx="47625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Popup padding: 20~30px all sides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34500" y="7820025"/>
            <a:ext cx="47625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Panel border: 1~2px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1000" y="8286750"/>
            <a:ext cx="57150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D8E4FF"/>
                </a:solidFill>
              </a:defRPr>
            </a:pPr>
            <a:r>
              <a:t>Unity RectTransform Anchor Reference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1500" y="8572500"/>
            <a:ext cx="7620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Background/Overlay: Stretch-Stretch (all edges = 0)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1500" y="8782050"/>
            <a:ext cx="7620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Top Bar: Top-Stretch (left=0, right=0, top=0, height=50)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1500" y="8991600"/>
            <a:ext cx="7620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Bottom Bar: Bottom-Stretch (left=0, right=0, bottom=0, height=55)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" y="9201150"/>
            <a:ext cx="7620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Center Panel (popups): Center-Center, Pivot=(0.5, 0.5)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71500" y="9410700"/>
            <a:ext cx="7620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HUD elements: Top-Left or Top-Right with offset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71500" y="9620250"/>
            <a:ext cx="7620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Inventory slots: Bottom-Left, horizontal layout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71500" y="9829800"/>
            <a:ext cx="7620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Speed/Pause: Bottom-Right, horizontal layout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71500" y="10039350"/>
            <a:ext cx="7620000" cy="1905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FC3E8"/>
                </a:solidFill>
              </a:defRPr>
            </a:pPr>
            <a:r>
              <a:t>Skill Tree viewport: Stretch-All with ScrollRect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