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10362895" cy="5394960"/>
          </a:xfrm>
          <a:prstGeom prst="rect">
            <a:avLst/>
          </a:prstGeom>
          <a:solidFill>
            <a:srgbClr val="141420"/>
          </a:solidFill>
          <a:ln w="381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D84D"/>
                </a:solidFill>
                <a:latin typeface="Arial"/>
              </a:defRPr>
            </a:pPr>
            <a:r>
              <a:t>SOULSPIRE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0DCD0"/>
                </a:solidFill>
                <a:latin typeface="Arial"/>
              </a:defRPr>
            </a:pPr>
            <a:r>
              <a:t>Art Direction v0.1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400" b="0">
                <a:solidFill>
                  <a:srgbClr val="A09890"/>
                </a:solidFill>
                <a:latin typeface="Arial"/>
              </a:defRPr>
            </a:pPr>
            <a:r>
              <a:t>Dark Fantasy Pixel Art Tower Defense</a:t>
            </a:r>
          </a:p>
          <a:p>
            <a:pPr>
              <a:spcAft>
                <a:spcPts val="400"/>
              </a:spcAft>
              <a:defRPr sz="1200" b="0">
                <a:solidFill>
                  <a:srgbClr val="A0989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2000" b="0">
                <a:solidFill>
                  <a:srgbClr val="E0DCD0"/>
                </a:solidFill>
                <a:latin typeface="Arial"/>
              </a:defRPr>
            </a:pPr>
            <a:r>
              <a:t>어둠 속에서 빛나는 마법, 파괴의 쾌감을 눈으로 체감하라</a:t>
            </a:r>
          </a:p>
          <a:p>
            <a:pPr>
              <a:spcAft>
                <a:spcPts val="400"/>
              </a:spcAft>
              <a:defRPr sz="1200" b="0">
                <a:solidFill>
                  <a:srgbClr val="A0989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A09890"/>
                </a:solidFill>
                <a:latin typeface="Arial"/>
              </a:defRPr>
            </a:pPr>
            <a:r>
              <a:t>2026.02.14  |  TA팀장 (아트디렉터)  |  v0.1 초판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01  ART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E0DCD0"/>
                </a:solidFill>
                <a:latin typeface="Arial"/>
              </a:defRPr>
            </a:pPr>
            <a:r>
              <a:t>Soulspire는 다크 판타지 세계관의 픽셀 아트 타워 디펜스이다.</a:t>
            </a:r>
          </a:p>
          <a:p>
            <a:pPr>
              <a:spcAft>
                <a:spcPts val="400"/>
              </a:spcAft>
              <a:defRPr sz="800" b="0">
                <a:solidFill>
                  <a:srgbClr val="E0DCD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E0DCD0"/>
                </a:solidFill>
                <a:latin typeface="Arial"/>
              </a:defRPr>
            </a:pPr>
            <a:r>
              <a:t>어둡고 깊은 톤의 판타지 세계에서, 마법 타워들이 밀려오는 유기체 몬스터를 파괴하는</a:t>
            </a:r>
          </a:p>
          <a:p>
            <a:pPr>
              <a:spcAft>
                <a:spcPts val="400"/>
              </a:spcAft>
              <a:defRPr sz="1600" b="0">
                <a:solidFill>
                  <a:srgbClr val="E0DCD0"/>
                </a:solidFill>
                <a:latin typeface="Arial"/>
              </a:defRPr>
            </a:pPr>
            <a:r>
              <a:t>시각적 쾌감을 극대화한다. 3/4 쿼터뷰 픽셀 아트로 탑다운 TD의 전략적 가독성과</a:t>
            </a:r>
          </a:p>
          <a:p>
            <a:pPr>
              <a:spcAft>
                <a:spcPts val="400"/>
              </a:spcAft>
              <a:defRPr sz="1600" b="0">
                <a:solidFill>
                  <a:srgbClr val="E0DCD0"/>
                </a:solidFill>
                <a:latin typeface="Arial"/>
              </a:defRPr>
            </a:pPr>
            <a:r>
              <a:t>디테일한 스프라이트 표현을 동시에 확보하며, 미니멀한 배경 위에서 타워와 몬스터,</a:t>
            </a:r>
          </a:p>
          <a:p>
            <a:pPr>
              <a:spcAft>
                <a:spcPts val="400"/>
              </a:spcAft>
              <a:defRPr sz="1600" b="0">
                <a:solidFill>
                  <a:srgbClr val="E0DCD0"/>
                </a:solidFill>
                <a:latin typeface="Arial"/>
              </a:defRPr>
            </a:pPr>
            <a:r>
              <a:t>그리고 화려한 마법 이펙트가 시각적 주인공이 되는 구성을 추구한다.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645920" cy="640080"/>
          </a:xfrm>
          <a:prstGeom prst="roundRect">
            <a:avLst/>
          </a:prstGeom>
          <a:solidFill>
            <a:srgbClr val="9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다크 판타지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840480"/>
            <a:ext cx="1645920" cy="640080"/>
          </a:xfrm>
          <a:prstGeom prst="roundRect">
            <a:avLst/>
          </a:prstGeom>
          <a:solidFill>
            <a:srgbClr val="408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픽셀 아트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840480"/>
            <a:ext cx="1645920" cy="640080"/>
          </a:xfrm>
          <a:prstGeom prst="roundRect">
            <a:avLst/>
          </a:prstGeom>
          <a:solidFill>
            <a:srgbClr val="40D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3/4 쿼터뷰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1645920" cy="640080"/>
          </a:xfrm>
          <a:prstGeom prst="round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마법 이펙트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1645920" cy="640080"/>
          </a:xfrm>
          <a:prstGeom prst="roundRect">
            <a:avLst/>
          </a:prstGeom>
          <a:solidFill>
            <a:srgbClr val="E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성장 체감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3840480"/>
            <a:ext cx="1645920" cy="640080"/>
          </a:xfrm>
          <a:prstGeom prst="round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미니멀 배경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84D"/>
                </a:solidFill>
                <a:latin typeface="Arial"/>
              </a:defRPr>
            </a:pPr>
            <a:r>
              <a:t>Tone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84D"/>
                </a:solidFill>
                <a:latin typeface="Arial"/>
              </a:defRPr>
            </a:pPr>
            <a:r>
              <a:t>밝음 ←→ 어두움</a:t>
            </a:r>
          </a:p>
          <a:p>
            <a:pPr>
              <a:spcAft>
                <a:spcPts val="400"/>
              </a:spcAft>
              <a:defRPr sz="1100" b="0">
                <a:solidFill>
                  <a:srgbClr val="A09890"/>
                </a:solidFill>
                <a:latin typeface="Arial"/>
              </a:defRPr>
            </a:pPr>
            <a:r>
              <a:t>70~80% 어두움 — 배경과 기본 톤은 어둡다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03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84D"/>
                </a:solidFill>
                <a:latin typeface="Arial"/>
              </a:defRPr>
            </a:pPr>
            <a:r>
              <a:t>가벼움 ←→ 무거움</a:t>
            </a:r>
          </a:p>
          <a:p>
            <a:pPr>
              <a:spcAft>
                <a:spcPts val="400"/>
              </a:spcAft>
              <a:defRPr sz="1100" b="0">
                <a:solidFill>
                  <a:srgbClr val="A09890"/>
                </a:solidFill>
                <a:latin typeface="Arial"/>
              </a:defRPr>
            </a:pPr>
            <a:r>
              <a:t>60% 무거움 — 시리어스하지만 빠르고 경쾌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303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84D"/>
                </a:solidFill>
                <a:latin typeface="Arial"/>
              </a:defRPr>
            </a:pPr>
            <a:r>
              <a:t>사실적 ←→ 양식적</a:t>
            </a:r>
          </a:p>
          <a:p>
            <a:pPr>
              <a:spcAft>
                <a:spcPts val="400"/>
              </a:spcAft>
              <a:defRPr sz="1100" b="0">
                <a:solidFill>
                  <a:srgbClr val="A09890"/>
                </a:solidFill>
                <a:latin typeface="Arial"/>
              </a:defRPr>
            </a:pPr>
            <a:r>
              <a:t>80% 양식적 — 픽셀 아트의 양식적 표현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3035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84D"/>
                </a:solidFill>
                <a:latin typeface="Arial"/>
              </a:defRPr>
            </a:pPr>
            <a:r>
              <a:t>귀여움 ←→ 위엄</a:t>
            </a:r>
          </a:p>
          <a:p>
            <a:pPr>
              <a:spcAft>
                <a:spcPts val="400"/>
              </a:spcAft>
              <a:defRPr sz="1100" b="0">
                <a:solidFill>
                  <a:srgbClr val="A09890"/>
                </a:solidFill>
                <a:latin typeface="Arial"/>
              </a:defRPr>
            </a:pPr>
            <a:r>
              <a:t>65% 위엄 — 타워는 위엄, 몬스터는 위협적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02  WORLD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DCD0"/>
                </a:solidFill>
                <a:latin typeface="Arial"/>
              </a:defRPr>
            </a:pPr>
            <a:r>
              <a:t>사이버 네온 → 다크 판타지 세계관 전면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A09890"/>
                </a:solidFill>
                <a:latin typeface="Arial"/>
              </a:defRPr>
            </a:pPr>
            <a:r>
              <a:t>기존 (사이버 네온)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737360"/>
            <a:ext cx="4572000" cy="457200"/>
          </a:xfrm>
          <a:prstGeom prst="rect">
            <a:avLst/>
          </a:prstGeom>
          <a:solidFill>
            <a:srgbClr val="202038"/>
          </a:solidFill>
          <a:ln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신규 (다크 판타지)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Node = 데이터 패킷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286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  <a:latin typeface="Arial"/>
              </a:defRPr>
            </a:pPr>
            <a:r>
              <a:t>Node = 마계/차원의 유기체 몬스터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Tower = 방화벽/보안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788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788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  <a:latin typeface="Arial"/>
              </a:defRPr>
            </a:pPr>
            <a:r>
              <a:t>Tower = 마법 타워/마탑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Bit = 데이터 자원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  <a:latin typeface="Arial"/>
              </a:defRPr>
            </a:pPr>
            <a:r>
              <a:t>Bit = 마나 결정/소울 파편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Core = 프리미엄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794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794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  <a:latin typeface="Arial"/>
              </a:defRPr>
            </a:pPr>
            <a:r>
              <a:t>Core = 고대 룬석/정수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회로기판 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297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  <a:latin typeface="Arial"/>
              </a:defRPr>
            </a:pPr>
            <a:r>
              <a:t>황폐한 마법진/고대 유적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네온 발광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800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84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800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  <a:latin typeface="Arial"/>
              </a:defRPr>
            </a:pPr>
            <a:r>
              <a:t>마법 발광/룬 광채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84D"/>
                </a:solidFill>
                <a:latin typeface="Arial"/>
              </a:defRPr>
            </a:pPr>
            <a:r>
              <a:t>핵심 키워드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다크 판타지: 신비롭고 위험한 세계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852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마법 요새: 차원의 균열에서 밀려오는 몬스터를 마법 타워로 방어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고대 유적: 미니멀하지만 신비로운 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217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성장 = 마법 각성: 스킬 트리는 마법 각성 트리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03  ART STYLE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렌더링 스타일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픽셀 아트 (AI 생성 + 수작업 보정)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91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3/4 쿼터뷰 (아이소메트릭, ~30-45도)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다크 판타지 (어두운 배경 + 밝은 마법 하이라이트)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라이팅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97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주변광 없음. 마법 효과와 자체 발광만 존재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외곽선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1~2px 검정 외곽선 (가독성 확보)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안티앨리어싱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703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수동 AA (제한된 팔레트 내 중간색)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5029200" cy="20116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D84D"/>
                </a:solidFill>
                <a:latin typeface="Arial"/>
              </a:defRPr>
            </a:pPr>
            <a:r>
              <a:t>3/4 Quarter View</a:t>
            </a:r>
          </a:p>
          <a:p>
            <a:pPr>
              <a:spcAft>
                <a:spcPts val="400"/>
              </a:spcAft>
              <a:defRPr sz="600" b="0">
                <a:solidFill>
                  <a:srgbClr val="E0DCD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오브젝트의 정면(앞면)과 윗면이 동시에 보임</a:t>
            </a:r>
          </a:p>
          <a:p>
            <a:pPr>
              <a:spcAft>
                <a:spcPts val="400"/>
              </a:spcAft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높이감 표현 가능 (타워 높이, 몬스터 크기)</a:t>
            </a:r>
          </a:p>
          <a:p>
            <a:pPr>
              <a:spcAft>
                <a:spcPts val="400"/>
              </a:spcAft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탑다운보다 입체감, 사이드뷰보다 전략적 가독성</a:t>
            </a:r>
          </a:p>
          <a:p>
            <a:pPr>
              <a:spcAft>
                <a:spcPts val="400"/>
              </a:spcAft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모든 오브젝트가 동일한 소실점 공유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389120"/>
            <a:ext cx="5212080" cy="20116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D84D"/>
                </a:solidFill>
                <a:latin typeface="Arial"/>
              </a:defRPr>
            </a:pPr>
            <a:r>
              <a:t>Visual References</a:t>
            </a:r>
          </a:p>
          <a:p>
            <a:pPr>
              <a:spcAft>
                <a:spcPts val="400"/>
              </a:spcAft>
              <a:defRPr sz="600" b="0">
                <a:solidFill>
                  <a:srgbClr val="E0DCD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Kingdom: Two Crowns — 다크 판타지 + 픽셀 아트</a:t>
            </a: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Loop Hero — 미니멀 맵 + 성장 루프</a:t>
            </a: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Vampire Survivors — 이펙트 밀도 스케일링</a:t>
            </a: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Darkest Dungeon — 다크 판타지 톤, UI</a:t>
            </a: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Shovel Knight — 픽셀 아트 품질 벤치마크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04  COLOR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배경/환경 (어두운 톤)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05840" cy="640080"/>
          </a:xfrm>
          <a:prstGeom prst="rect">
            <a:avLst/>
          </a:prstGeom>
          <a:solidFill>
            <a:srgbClr val="0A0A12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최심부 배경</a:t>
            </a:r>
            <a:br/>
            <a:r>
              <a:t>#0A0A12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63040"/>
            <a:ext cx="1005840" cy="640080"/>
          </a:xfrm>
          <a:prstGeom prst="rect">
            <a:avLst/>
          </a:prstGeom>
          <a:solidFill>
            <a:srgbClr val="14142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기본 배경</a:t>
            </a:r>
            <a:br/>
            <a:r>
              <a:t>#141420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463040"/>
            <a:ext cx="1005840" cy="640080"/>
          </a:xfrm>
          <a:prstGeom prst="rect">
            <a:avLst/>
          </a:prstGeom>
          <a:solidFill>
            <a:srgbClr val="1E1E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밝은 배경</a:t>
            </a:r>
            <a:br/>
            <a:r>
              <a:t>#1E1E30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463040"/>
            <a:ext cx="1005840" cy="640080"/>
          </a:xfrm>
          <a:prstGeom prst="rect">
            <a:avLst/>
          </a:prstGeom>
          <a:solidFill>
            <a:srgbClr val="2A2A3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돌/유적</a:t>
            </a:r>
            <a:br/>
            <a:r>
              <a:t>#2A2A3A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463040"/>
            <a:ext cx="1005840" cy="640080"/>
          </a:xfrm>
          <a:prstGeom prst="rect">
            <a:avLst/>
          </a:prstGeom>
          <a:solidFill>
            <a:srgbClr val="3A3A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밝은 돌</a:t>
            </a:r>
            <a:br/>
            <a:r>
              <a:t>#3A3A50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마법/발광 (하이라이트)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188720" cy="640080"/>
          </a:xfrm>
          <a:prstGeom prst="rect">
            <a:avLst/>
          </a:prstGeom>
          <a:solidFill>
            <a:srgbClr val="E8E4F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마법 백색</a:t>
            </a:r>
            <a:br/>
            <a:r>
              <a:t>#E8E4F0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246120"/>
            <a:ext cx="118872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골드</a:t>
            </a:r>
            <a:br/>
            <a:r>
              <a:t>#FFD84D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46120"/>
            <a:ext cx="1188720" cy="640080"/>
          </a:xfrm>
          <a:prstGeom prst="rect">
            <a:avLst/>
          </a:prstGeom>
          <a:solidFill>
            <a:srgbClr val="D4404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루비 레드</a:t>
            </a:r>
            <a:br/>
            <a:r>
              <a:t>#D44040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46120"/>
            <a:ext cx="1188720" cy="640080"/>
          </a:xfrm>
          <a:prstGeom prst="rect">
            <a:avLst/>
          </a:prstGeom>
          <a:solidFill>
            <a:srgbClr val="40D47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에메랄드</a:t>
            </a:r>
            <a:br/>
            <a:r>
              <a:t>#40D470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46120"/>
            <a:ext cx="1188720" cy="640080"/>
          </a:xfrm>
          <a:prstGeom prst="rect">
            <a:avLst/>
          </a:prstGeom>
          <a:solidFill>
            <a:srgbClr val="4080D4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사파이어</a:t>
            </a:r>
            <a:br/>
            <a:r>
              <a:t>#4080D4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3246120"/>
            <a:ext cx="1188720" cy="640080"/>
          </a:xfrm>
          <a:prstGeom prst="rect">
            <a:avLst/>
          </a:prstGeom>
          <a:solidFill>
            <a:srgbClr val="9060D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마법 퍼플</a:t>
            </a:r>
            <a:br/>
            <a:r>
              <a:t>#9060D0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3246120"/>
            <a:ext cx="1188720" cy="640080"/>
          </a:xfrm>
          <a:prstGeom prst="rect">
            <a:avLst/>
          </a:prstGeom>
          <a:solidFill>
            <a:srgbClr val="E080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화염 오렌지</a:t>
            </a:r>
            <a:br/>
            <a:r>
              <a:t>#E08030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3246120"/>
            <a:ext cx="1188720" cy="640080"/>
          </a:xfrm>
          <a:prstGeom prst="rect">
            <a:avLst/>
          </a:prstGeom>
          <a:solidFill>
            <a:srgbClr val="E0D04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3931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번개 옐로우</a:t>
            </a:r>
            <a:br/>
            <a:r>
              <a:t>#E0D040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팔레트 운용 원칙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암부가 기본, 명부는 마법 — 화면 80%는 어두운 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029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채도 제한 — 배경/환경은 저채도, 마법/이펙트만 고채도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스테이지별 색온도 변화 — 초반 차가운 톤, 후반 따뜻한 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349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타워별 즉시 식별 — 시그니처 컬러만으로 종류 구분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몬스터 가독성 — 어두운 배경 위에서 실루엣 즉시 인식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05  TOWER GUIDE (6종)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24688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T01  마법 석궁탑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Arrow Tower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1097280" cy="548640"/>
          </a:xfrm>
          <a:prstGeom prst="rect">
            <a:avLst/>
          </a:prstGeom>
          <a:solidFill>
            <a:srgbClr val="C0A87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주색 #C0A870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920240"/>
            <a:ext cx="914400" cy="548640"/>
          </a:xfrm>
          <a:prstGeom prst="rect">
            <a:avLst/>
          </a:prstGeom>
          <a:solidFill>
            <a:srgbClr val="E8E4F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보조 #E8E4F0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석재 기단 + 마법 석궁</a:t>
            </a:r>
            <a:br/>
            <a:r>
              <a:t>황동빛 금속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474720" cy="24688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T02  화염 마법포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Cannon Tower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920240"/>
            <a:ext cx="1097280" cy="548640"/>
          </a:xfrm>
          <a:prstGeom prst="rect">
            <a:avLst/>
          </a:prstGeom>
          <a:solidFill>
            <a:srgbClr val="E080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514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주색 #E08030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920240"/>
            <a:ext cx="914400" cy="548640"/>
          </a:xfrm>
          <a:prstGeom prst="rect">
            <a:avLst/>
          </a:prstGeom>
          <a:solidFill>
            <a:srgbClr val="D4404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보조 #D44040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화산석 포탑</a:t>
            </a:r>
            <a:br/>
            <a:r>
              <a:t>포구에서 화염 오라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097280"/>
            <a:ext cx="3474720" cy="24688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39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T03  빙결 마탑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9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Ice Tower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39" y="1920240"/>
            <a:ext cx="1097280" cy="548640"/>
          </a:xfrm>
          <a:prstGeom prst="rect">
            <a:avLst/>
          </a:prstGeom>
          <a:solidFill>
            <a:srgbClr val="4080D4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39" y="2514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주색 #4080D4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79" y="1920240"/>
            <a:ext cx="914400" cy="548640"/>
          </a:xfrm>
          <a:prstGeom prst="rect">
            <a:avLst/>
          </a:prstGeom>
          <a:solidFill>
            <a:srgbClr val="80C0E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9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보조 #80C0E0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얼음 결정 첨탑</a:t>
            </a:r>
            <a:br/>
            <a:r>
              <a:t>주변에 서리 오라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3474720" cy="24688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T04  뇌전 첨탑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Lightning Tower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663440"/>
            <a:ext cx="1097280" cy="548640"/>
          </a:xfrm>
          <a:prstGeom prst="rect">
            <a:avLst/>
          </a:prstGeom>
          <a:solidFill>
            <a:srgbClr val="E0D04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257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주색 #E0D040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663440"/>
            <a:ext cx="914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보조 #FFFFFF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7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뾰족한 금속 첨탑</a:t>
            </a:r>
            <a:br/>
            <a:r>
              <a:t>번개 아크 오라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840480"/>
            <a:ext cx="3474720" cy="24688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T05  마력 포탑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Laser Tower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4663440"/>
            <a:ext cx="1097280" cy="548640"/>
          </a:xfrm>
          <a:prstGeom prst="rect">
            <a:avLst/>
          </a:prstGeom>
          <a:solidFill>
            <a:srgbClr val="9060D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5257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주색 #9060D0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4663440"/>
            <a:ext cx="914400" cy="548640"/>
          </a:xfrm>
          <a:prstGeom prst="rect">
            <a:avLst/>
          </a:prstGeom>
          <a:solidFill>
            <a:srgbClr val="D080FF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보조 #D080FF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5577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보라빛 수정구 탑</a:t>
            </a:r>
            <a:br/>
            <a:r>
              <a:t>마력 빔 집중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3840480"/>
            <a:ext cx="3474720" cy="246888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39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T06  공허의 오벨리스크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39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Void Tower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39" y="4663440"/>
            <a:ext cx="1097280" cy="548640"/>
          </a:xfrm>
          <a:prstGeom prst="rect">
            <a:avLst/>
          </a:prstGeom>
          <a:solidFill>
            <a:srgbClr val="3020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39" y="5257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주색 #302050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79" y="4663440"/>
            <a:ext cx="914400" cy="548640"/>
          </a:xfrm>
          <a:prstGeom prst="rect">
            <a:avLst/>
          </a:prstGeom>
          <a:solidFill>
            <a:srgbClr val="6040A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79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보조 #6040A0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39" y="5577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검보라 돌기둥</a:t>
            </a:r>
            <a:br/>
            <a:r>
              <a:t>주변 공기가 왜곡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06  MONSTER GUIDE (9종)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N01  소형 마물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Bit 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143000"/>
            <a:ext cx="731520" cy="548640"/>
          </a:xfrm>
          <a:prstGeom prst="rect">
            <a:avLst/>
          </a:prstGeom>
          <a:solidFill>
            <a:srgbClr val="80A08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#80A080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둥글고 작은 슬라임/구체형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N02  척후 마물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417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Quick Node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143000"/>
            <a:ext cx="731520" cy="548640"/>
          </a:xfrm>
          <a:prstGeom prst="rect">
            <a:avLst/>
          </a:prstGeom>
          <a:solidFill>
            <a:srgbClr val="A0A06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#A0A060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날씬하고 다리가 긴 곤충형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0058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39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N03  중갑 마물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39" y="1417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Heavy Node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599" y="1143000"/>
            <a:ext cx="731520" cy="548640"/>
          </a:xfrm>
          <a:prstGeom prst="rect">
            <a:avLst/>
          </a:prstGeom>
          <a:solidFill>
            <a:srgbClr val="7050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9" y="1737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#705050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39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크고 넓은 골렘/거인형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N04  갑주 마물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Shield Node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971800"/>
            <a:ext cx="731520" cy="548640"/>
          </a:xfrm>
          <a:prstGeom prst="rect">
            <a:avLst/>
          </a:prstGeom>
          <a:solidFill>
            <a:srgbClr val="6080A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#6080A0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방패를 든 기사형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8346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N05  벌레 무리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Swarm Node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971800"/>
            <a:ext cx="731520" cy="548640"/>
          </a:xfrm>
          <a:prstGeom prst="rect">
            <a:avLst/>
          </a:prstGeom>
          <a:solidFill>
            <a:srgbClr val="90807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#908070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극소형, 벌레/쥐 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8346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39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N06  재생 마물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39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Regen Node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599" y="2971800"/>
            <a:ext cx="731520" cy="548640"/>
          </a:xfrm>
          <a:prstGeom prst="rect">
            <a:avLst/>
          </a:prstGeom>
          <a:solidFill>
            <a:srgbClr val="5080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59" y="3566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#508050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39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식물/이끼 덮인 유기체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634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N07  유령 마물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Phase Node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800600"/>
            <a:ext cx="731520" cy="548640"/>
          </a:xfrm>
          <a:prstGeom prst="rect">
            <a:avLst/>
          </a:prstGeom>
          <a:solidFill>
            <a:srgbClr val="70609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#706090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반투명, 유령형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46634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N08  분열 마물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Split Node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800600"/>
            <a:ext cx="731520" cy="548640"/>
          </a:xfrm>
          <a:prstGeom prst="rect">
            <a:avLst/>
          </a:prstGeom>
          <a:solidFill>
            <a:srgbClr val="8060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#806050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불안정한 점토/분열체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4663440"/>
            <a:ext cx="3474720" cy="1645920"/>
          </a:xfrm>
          <a:prstGeom prst="rect">
            <a:avLst/>
          </a:prstGeom>
          <a:solidFill>
            <a:srgbClr val="1A1828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39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N09  대마 (보스)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39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Boss Node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599" y="4800600"/>
            <a:ext cx="731520" cy="548640"/>
          </a:xfrm>
          <a:prstGeom prst="rect">
            <a:avLst/>
          </a:prstGeom>
          <a:solidFill>
            <a:srgbClr val="A0404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24159" y="5394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  <a:latin typeface="Arial"/>
              </a:defRPr>
            </a:pPr>
            <a:r>
              <a:t>#A04040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39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다른 몬스터 2~3배 크기, 발광하는 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07  MAP /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레이어 구조 (뒤 → 앞)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57200" cy="27432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DCD0"/>
                </a:solidFill>
                <a:latin typeface="Arial"/>
              </a:defRPr>
            </a:pPr>
            <a:r>
              <a:t>L0: 단색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스테이지별 색조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457200" cy="27432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810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DCD0"/>
                </a:solidFill>
                <a:latin typeface="Arial"/>
              </a:defRPr>
            </a:pPr>
            <a:r>
              <a:t>L1: 미니멀 패턴 타일맵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10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경로/배치칸 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57984"/>
            <a:ext cx="457200" cy="274320"/>
          </a:xfrm>
          <a:prstGeom prst="rect">
            <a:avLst/>
          </a:prstGeom>
          <a:solidFill>
            <a:srgbClr val="24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157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DCD0"/>
                </a:solidFill>
                <a:latin typeface="Arial"/>
              </a:defRPr>
            </a:pPr>
            <a:r>
              <a:t>L2: 장식 오브젝트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57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스테이지 분위기 전달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05456"/>
            <a:ext cx="457200" cy="274320"/>
          </a:xfrm>
          <a:prstGeom prst="rect">
            <a:avLst/>
          </a:prstGeom>
          <a:solidFill>
            <a:srgbClr val="2E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5054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DCD0"/>
                </a:solidFill>
                <a:latin typeface="Arial"/>
              </a:defRPr>
            </a:pPr>
            <a:r>
              <a:t>L3: 경로 하이라이트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05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몬스터 이동 경로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52928"/>
            <a:ext cx="457200" cy="274320"/>
          </a:xfrm>
          <a:prstGeom prst="rect">
            <a:avLst/>
          </a:prstGeom>
          <a:solidFill>
            <a:srgbClr val="38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852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DCD0"/>
                </a:solidFill>
                <a:latin typeface="Arial"/>
              </a:defRPr>
            </a:pPr>
            <a:r>
              <a:t>L4: 타워/몬스터/이펙트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8529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주인공 레이어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00400"/>
            <a:ext cx="457200" cy="274320"/>
          </a:xfrm>
          <a:prstGeom prst="rect">
            <a:avLst/>
          </a:prstGeom>
          <a:solidFill>
            <a:srgbClr val="424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DCD0"/>
                </a:solidFill>
                <a:latin typeface="Arial"/>
              </a:defRPr>
            </a:pPr>
            <a:r>
              <a:t>L5: UI 오버레이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  <a:latin typeface="Arial"/>
              </a:defRPr>
            </a:pPr>
            <a:r>
              <a:t>게임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스테이지별 환경 색조 (10개 스테이지)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960120" cy="914400"/>
          </a:xfrm>
          <a:prstGeom prst="rect">
            <a:avLst/>
          </a:prstGeom>
          <a:solidFill>
            <a:srgbClr val="10202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S1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잊혀진 초원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#102020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4114800"/>
            <a:ext cx="960120" cy="914400"/>
          </a:xfrm>
          <a:prstGeom prst="rect">
            <a:avLst/>
          </a:prstGeom>
          <a:solidFill>
            <a:srgbClr val="18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S2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무너진 성채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#181828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114800"/>
            <a:ext cx="960120" cy="914400"/>
          </a:xfrm>
          <a:prstGeom prst="rect">
            <a:avLst/>
          </a:prstGeom>
          <a:solidFill>
            <a:srgbClr val="1A103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S3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수정 동굴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#1A1030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4114800"/>
            <a:ext cx="960120" cy="914400"/>
          </a:xfrm>
          <a:prstGeom prst="rect">
            <a:avLst/>
          </a:prstGeom>
          <a:solidFill>
            <a:srgbClr val="20181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S4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갈라진 협곡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#201810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4114800"/>
            <a:ext cx="960120" cy="914400"/>
          </a:xfrm>
          <a:prstGeom prst="rect">
            <a:avLst/>
          </a:prstGeom>
          <a:solidFill>
            <a:srgbClr val="20102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S5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마탑 내부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#201020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114800"/>
            <a:ext cx="960120" cy="914400"/>
          </a:xfrm>
          <a:prstGeom prst="rect">
            <a:avLst/>
          </a:prstGeom>
          <a:solidFill>
            <a:srgbClr val="101A1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S6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영혼의 숲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#101A10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4114800"/>
            <a:ext cx="960120" cy="914400"/>
          </a:xfrm>
          <a:prstGeom prst="rect">
            <a:avLst/>
          </a:prstGeom>
          <a:solidFill>
            <a:srgbClr val="140A2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S7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심연의 사원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#140A20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4114800"/>
            <a:ext cx="960120" cy="914400"/>
          </a:xfrm>
          <a:prstGeom prst="rect">
            <a:avLst/>
          </a:prstGeom>
          <a:solidFill>
            <a:srgbClr val="20080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S8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화산 지대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#200808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114800"/>
            <a:ext cx="960120" cy="914400"/>
          </a:xfrm>
          <a:prstGeom prst="rect">
            <a:avLst/>
          </a:prstGeom>
          <a:solidFill>
            <a:srgbClr val="1A140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S9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왕좌의 방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#1A1408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44200" y="4114800"/>
            <a:ext cx="960120" cy="914400"/>
          </a:xfrm>
          <a:prstGeom prst="rect">
            <a:avLst/>
          </a:prstGeom>
          <a:solidFill>
            <a:srgbClr val="1A102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44200" y="5074920"/>
            <a:ext cx="960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84D"/>
                </a:solidFill>
                <a:latin typeface="Arial"/>
              </a:defRPr>
            </a:pPr>
            <a:r>
              <a:t>S10</a:t>
            </a:r>
          </a:p>
          <a:p>
            <a:pPr>
              <a:spcAft>
                <a:spcPts val="400"/>
              </a:spcAft>
              <a:defRPr sz="900" b="0">
                <a:solidFill>
                  <a:srgbClr val="E0DCD0"/>
                </a:solidFill>
                <a:latin typeface="Arial"/>
              </a:defRPr>
            </a:pPr>
            <a:r>
              <a:t>차원의 균열</a:t>
            </a:r>
          </a:p>
          <a:p>
            <a:pPr>
              <a:spcAft>
                <a:spcPts val="400"/>
              </a:spcAft>
              <a:defRPr sz="800" b="0">
                <a:solidFill>
                  <a:srgbClr val="A09890"/>
                </a:solidFill>
                <a:latin typeface="Arial"/>
              </a:defRPr>
            </a:pPr>
            <a:r>
              <a:t>#1A1020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08  UI STYLE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정보 우선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97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모든 수치, 상태 정보는 즉시 읽힘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판타지 프레임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패널 테두리에 석재/금속/룬 문양 장식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낡은 양피지 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텍스트 배경에 약간의 텍스처 느낌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  <a:latin typeface="Arial"/>
              </a:defRPr>
            </a:pPr>
            <a:r>
              <a:t>최소 컬러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무채색+금색 기본, 기능별 색상은 아이콘/강조에만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UI 팔레트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097280" cy="640080"/>
          </a:xfrm>
          <a:prstGeom prst="rect">
            <a:avLst/>
          </a:prstGeom>
          <a:solidFill>
            <a:srgbClr val="12101A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UI 배경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#12101A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9072" y="3566160"/>
            <a:ext cx="1097280" cy="640080"/>
          </a:xfrm>
          <a:prstGeom prst="rect">
            <a:avLst/>
          </a:prstGeom>
          <a:solidFill>
            <a:srgbClr val="1A1828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9072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UI 패널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#1A1828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3566160"/>
            <a:ext cx="1097280" cy="640080"/>
          </a:xfrm>
          <a:prstGeom prst="rect">
            <a:avLst/>
          </a:prstGeom>
          <a:solidFill>
            <a:srgbClr val="242236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밝은 패널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#242236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3566160"/>
            <a:ext cx="1097280" cy="640080"/>
          </a:xfrm>
          <a:prstGeom prst="rect">
            <a:avLst/>
          </a:prstGeom>
          <a:solidFill>
            <a:srgbClr val="5A507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프레임 기본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#5A5070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4688" y="3566160"/>
            <a:ext cx="1097280" cy="640080"/>
          </a:xfrm>
          <a:prstGeom prst="rect">
            <a:avLst/>
          </a:prstGeom>
          <a:solidFill>
            <a:srgbClr val="B0A08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04688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프레임 활성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#B0A080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59" y="3566160"/>
            <a:ext cx="1097280" cy="640080"/>
          </a:xfrm>
          <a:prstGeom prst="rect">
            <a:avLst/>
          </a:prstGeom>
          <a:solidFill>
            <a:srgbClr val="FFD84D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프레임 강조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#FFD84D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3566160"/>
            <a:ext cx="1097280" cy="640080"/>
          </a:xfrm>
          <a:prstGeom prst="rect">
            <a:avLst/>
          </a:prstGeom>
          <a:solidFill>
            <a:srgbClr val="E0DCD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텍스트 메인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#E0DCD0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0304" y="3566160"/>
            <a:ext cx="1097280" cy="640080"/>
          </a:xfrm>
          <a:prstGeom prst="rect">
            <a:avLst/>
          </a:prstGeom>
          <a:solidFill>
            <a:srgbClr val="A0989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텍스트 서브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#A09890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52176" y="3566160"/>
            <a:ext cx="1097280" cy="640080"/>
          </a:xfrm>
          <a:prstGeom prst="rect">
            <a:avLst/>
          </a:prstGeom>
          <a:solidFill>
            <a:srgbClr val="605850"/>
          </a:solidFill>
          <a:ln w="12700"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52176" y="4251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E0DCD0"/>
                </a:solidFill>
                <a:latin typeface="Arial"/>
              </a:defRPr>
            </a:pPr>
            <a:r>
              <a:t>텍스트 비활성</a:t>
            </a:r>
          </a:p>
          <a:p>
            <a:pPr>
              <a:spcAft>
                <a:spcPts val="400"/>
              </a:spcAft>
              <a:defRPr sz="900" b="0">
                <a:solidFill>
                  <a:srgbClr val="A09890"/>
                </a:solidFill>
                <a:latin typeface="Arial"/>
              </a:defRPr>
            </a:pPr>
            <a:r>
              <a:t>#605850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UI 에셋 목록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94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패널 프레임 (9-slice, 64x64)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94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버튼 프레임 기본/강조 (4상태)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15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HP 바 프레임+필 (200x16)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715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스킬 노드 (3상태, 48x48)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스킬 연결선 (2상태)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035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아이콘: Bit(마나), Core(룬석)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355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타워 인벤토리 슬롯 (48x48)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355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툴팁/토스트 프레임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09  VFX /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DCD0"/>
                </a:solidFill>
                <a:latin typeface="Arial"/>
              </a:defRPr>
            </a:pPr>
            <a:r>
              <a:t>마법 이펙트 = 시각적 주인공  |  타워 시그니처 컬러 준수  |  성장할수록 스케일업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54480"/>
            <a:ext cx="2148840" cy="3200400"/>
          </a:xfrm>
          <a:prstGeom prst="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148840" cy="73152"/>
          </a:xfrm>
          <a:prstGeom prst="rect">
            <a:avLst/>
          </a:prstGeom>
          <a:solidFill>
            <a:srgbClr val="408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080D4"/>
                </a:solidFill>
                <a:latin typeface="Arial"/>
              </a:defRPr>
            </a:pPr>
            <a:r>
              <a:t>마이크로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  <a:latin typeface="Arial"/>
              </a:defRPr>
            </a:pPr>
            <a:r>
              <a:t>빈도: 매초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몬스터 처치 파편, Bit 드롭 팝업,</a:t>
            </a:r>
            <a:br/>
            <a:r>
              <a:t>투사체 타격 스파크, 투사체 궤적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554480"/>
            <a:ext cx="2148840" cy="3200400"/>
          </a:xfrm>
          <a:prstGeom prst="rect">
            <a:avLst/>
          </a:prstGeom>
          <a:solidFill>
            <a:srgbClr val="1A1828"/>
          </a:solidFill>
          <a:ln w="25400">
            <a:solidFill>
              <a:srgbClr val="40D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39" y="1554480"/>
            <a:ext cx="2148840" cy="73152"/>
          </a:xfrm>
          <a:prstGeom prst="rect">
            <a:avLst/>
          </a:prstGeom>
          <a:solidFill>
            <a:srgbClr val="40D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0D470"/>
                </a:solidFill>
                <a:latin typeface="Arial"/>
              </a:defRPr>
            </a:pPr>
            <a:r>
              <a:t>소형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10312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  <a:latin typeface="Arial"/>
              </a:defRPr>
            </a:pPr>
            <a:r>
              <a:t>빈도: 30초~1분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46888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웨이브 클리어 플래시, WAVE CLEAR 배너,</a:t>
            </a:r>
            <a:br/>
            <a:r>
              <a:t>보너스 Bit 연출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554480"/>
            <a:ext cx="2148840" cy="3200400"/>
          </a:xfrm>
          <a:prstGeom prst="rect">
            <a:avLst/>
          </a:prstGeom>
          <a:solidFill>
            <a:srgbClr val="1A1828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59" y="1554480"/>
            <a:ext cx="2148840" cy="73152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9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84D"/>
                </a:solidFill>
                <a:latin typeface="Arial"/>
              </a:defRPr>
            </a:pPr>
            <a:r>
              <a:t>중형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10312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  <a:latin typeface="Arial"/>
              </a:defRPr>
            </a:pPr>
            <a:r>
              <a:t>빈도: 런 사이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246888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스킬 노드 해금, 수치 비교 팝업,</a:t>
            </a:r>
            <a:br/>
            <a:r>
              <a:t>신규 노드 등장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1554480"/>
            <a:ext cx="2148840" cy="3200400"/>
          </a:xfrm>
          <a:prstGeom prst="rect">
            <a:avLst/>
          </a:prstGeom>
          <a:solidFill>
            <a:srgbClr val="1A1828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1554480"/>
            <a:ext cx="2148840" cy="73152"/>
          </a:xfrm>
          <a:prstGeom prst="rect">
            <a:avLst/>
          </a:prstGeom>
          <a:solidFill>
            <a:srgbClr val="E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8030"/>
                </a:solidFill>
                <a:latin typeface="Arial"/>
              </a:defRPr>
            </a:pPr>
            <a:r>
              <a:t>대형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10312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  <a:latin typeface="Arial"/>
              </a:defRPr>
            </a:pPr>
            <a:r>
              <a:t>빈도: 30분~1시간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46888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스테이지 클리어, Core 획득,</a:t>
            </a:r>
            <a:br/>
            <a:r>
              <a:t>신규 스테이지 해금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554480"/>
            <a:ext cx="2148840" cy="3200400"/>
          </a:xfrm>
          <a:prstGeom prst="rect">
            <a:avLst/>
          </a:prstGeom>
          <a:solidFill>
            <a:srgbClr val="1A1828"/>
          </a:solidFill>
          <a:ln w="254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1554480"/>
            <a:ext cx="2148840" cy="73152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7373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4040"/>
                </a:solidFill>
                <a:latin typeface="Arial"/>
              </a:defRPr>
            </a:pPr>
            <a:r>
              <a:t>특대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10312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  <a:latin typeface="Arial"/>
              </a:defRPr>
            </a:pPr>
            <a:r>
              <a:t>빈도: 1시간+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46888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보스 처치 (슬로우모션+폭발),</a:t>
            </a:r>
            <a:br/>
            <a:r>
              <a:t>신규 타워 첫 배치, 엔딩 연출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D84D"/>
                </a:solidFill>
                <a:latin typeface="Arial"/>
              </a:defRPr>
            </a:pPr>
            <a:r>
              <a:t>기술 사양</a:t>
            </a: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파티클: Unity Particle System (URP 2D)  |  스프라이트 이펙트: 4~8프레임, 12fps  |  풀링: 최대 동시 50개</a:t>
            </a:r>
          </a:p>
          <a:p>
            <a:pPr>
              <a:spcAft>
                <a:spcPts val="400"/>
              </a:spcAft>
              <a:defRPr sz="1100" b="0">
                <a:solidFill>
                  <a:srgbClr val="E0DCD0"/>
                </a:solidFill>
                <a:latin typeface="Arial"/>
              </a:defRPr>
            </a:pPr>
            <a:r>
              <a:t>숫자 팝업: TMP + DOTween  |  화면 이펙트: URP 2D Renderer Feature + PostProcessing (Bloom, Vignette)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10  PIXEL ART SPEC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스프라이트 해상도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타워 (일반)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64x64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타워 (강화)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80x80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몬스터 (소형)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32x32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몬스터 (중형)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48x48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몬스터 (보스)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64x64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Swarm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16x16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63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3832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타일맵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383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32x32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PPU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UI 아이콘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24~48 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890"/>
                </a:solidFill>
                <a:latin typeface="Arial"/>
              </a:defRPr>
            </a:pPr>
            <a:r>
              <a:t>Canvas 기준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팔레트 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전체 마스터 팔레트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최대 48색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개별 스프라이트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8~16색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환경 타일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4~6색/스테이지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이펙트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4~8색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애니메이션 규격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기본 프레임 레이트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8fps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947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빠른 액션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12fps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이펙트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12fps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최소 루프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2프레임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최대 시퀀스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7548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84D"/>
                </a:solidFill>
                <a:latin typeface="Arial"/>
              </a:defRPr>
            </a:pPr>
            <a:r>
              <a:t>8프레임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광원 규칙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주 광원 방향: 좌상단 (45도)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하이라이트: 스프라이트 좌상단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그림자: 우하단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532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환경광: 거의 없음 (다크 판타지)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  <a:latin typeface="Arial"/>
              </a:defRPr>
            </a:pPr>
            <a:r>
              <a:t>• 마법 발광: 자체 발광 (전 방향)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  <a:latin typeface="Arial"/>
              </a:defRPr>
            </a:pPr>
            <a:r>
              <a:t>성능 예산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486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동시 스프라이트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84D"/>
                </a:solidFill>
                <a:latin typeface="Arial"/>
              </a:defRPr>
            </a:pPr>
            <a:r>
              <a:t>200개 이하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742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드로우콜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7424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84D"/>
                </a:solidFill>
                <a:latin typeface="Arial"/>
              </a:defRPr>
            </a:pPr>
            <a:r>
              <a:t>50 이하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599846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파티클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0" y="5998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84D"/>
                </a:solidFill>
                <a:latin typeface="Arial"/>
              </a:defRPr>
            </a:pPr>
            <a:r>
              <a:t>동시 500개 이하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62544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2D Light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62544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84D"/>
                </a:solidFill>
                <a:latin typeface="Arial"/>
              </a:defRPr>
            </a:pPr>
            <a:r>
              <a:t>동시 25개 이하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6510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타겟 FPS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65105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84D"/>
                </a:solidFill>
                <a:latin typeface="Arial"/>
              </a:defRPr>
            </a:pPr>
            <a:r>
              <a:t>60fps (최소 30)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11  PRODUCTION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148840" cy="5303520"/>
          </a:xfrm>
          <a:prstGeom prst="rect">
            <a:avLst/>
          </a:prstGeom>
          <a:solidFill>
            <a:srgbClr val="1A1828"/>
          </a:solidFill>
          <a:ln w="25400">
            <a:solidFill>
              <a:srgbClr val="D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48840" cy="4572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4040"/>
                </a:solidFill>
                <a:latin typeface="Arial"/>
              </a:defRPr>
            </a:pPr>
            <a:r>
              <a:t>코어 루프 (최우선)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Arrow Tower (Lv1)</a:t>
            </a:r>
            <a:br/>
            <a:r>
              <a:t>• Bit/Quick/Heavy Node (이동+파괴)</a:t>
            </a:r>
            <a:br/>
            <a:r>
              <a:t>• 기본 타일셋 (스테이지 1)</a:t>
            </a:r>
            <a:br/>
            <a:r>
              <a:t>• 투사체 (Arrow) + 타격</a:t>
            </a:r>
            <a:br/>
            <a:r>
              <a:t>• Bit 아이콘 + 숫자 팝업</a:t>
            </a:r>
            <a:br/>
            <a:r>
              <a:t>• HP 바 프레임 + 필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097280"/>
            <a:ext cx="2148840" cy="5303520"/>
          </a:xfrm>
          <a:prstGeom prst="rect">
            <a:avLst/>
          </a:prstGeom>
          <a:solidFill>
            <a:srgbClr val="1A1828"/>
          </a:solidFill>
          <a:ln w="25400">
            <a:solidFill>
              <a:srgbClr val="E0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097280"/>
            <a:ext cx="2148840" cy="457200"/>
          </a:xfrm>
          <a:prstGeom prst="rect">
            <a:avLst/>
          </a:prstGeom>
          <a:solidFill>
            <a:srgbClr val="E08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59" y="11430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1645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030"/>
                </a:solidFill>
                <a:latin typeface="Arial"/>
              </a:defRPr>
            </a:pPr>
            <a:r>
              <a:t>Hub + 스킬 트리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스킬 노드 아이콘 (18종)</a:t>
            </a:r>
            <a:br/>
            <a:r>
              <a:t>• 스킬 트리 프레임/연결선</a:t>
            </a:r>
            <a:br/>
            <a:r>
              <a:t>• UI 패널/버튼 프레임</a:t>
            </a:r>
            <a:br/>
            <a:r>
              <a:t>• Core 아이콘</a:t>
            </a:r>
            <a:br/>
            <a:r>
              <a:t>• 타이틀 로고 (판타지)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1097280"/>
            <a:ext cx="2148840" cy="5303520"/>
          </a:xfrm>
          <a:prstGeom prst="rect">
            <a:avLst/>
          </a:prstGeom>
          <a:solidFill>
            <a:srgbClr val="1A1828"/>
          </a:solidFill>
          <a:ln w="2540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59" y="1097280"/>
            <a:ext cx="2148840" cy="4572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11430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1645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추가 타워+몬스터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Cannon/Ice Tower (Lv1)</a:t>
            </a:r>
            <a:br/>
            <a:r>
              <a:t>• Shield/Swarm Node</a:t>
            </a:r>
            <a:br/>
            <a:r>
              <a:t>• 스테이지 2~4 타일셋</a:t>
            </a:r>
            <a:br/>
            <a:r>
              <a:t>• 타워별 투사체/이펙트</a:t>
            </a:r>
            <a:br/>
            <a:r>
              <a:t>• 웨이브/스테이지 클리어 연출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097280"/>
            <a:ext cx="2148840" cy="5303520"/>
          </a:xfrm>
          <a:prstGeom prst="rect">
            <a:avLst/>
          </a:prstGeom>
          <a:solidFill>
            <a:srgbClr val="1A1828"/>
          </a:solidFill>
          <a:ln w="25400">
            <a:solidFill>
              <a:srgbClr val="4080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79" y="1097280"/>
            <a:ext cx="2148840" cy="457200"/>
          </a:xfrm>
          <a:prstGeom prst="rect">
            <a:avLst/>
          </a:prstGeom>
          <a:solidFill>
            <a:srgbClr val="408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11430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1645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080D4"/>
                </a:solidFill>
                <a:latin typeface="Arial"/>
              </a:defRPr>
            </a:pPr>
            <a:r>
              <a:t>후반 컨텐츠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Lightning/Laser/Void Tower</a:t>
            </a:r>
            <a:br/>
            <a:r>
              <a:t>• Regen/Phase/Split/Boss Node</a:t>
            </a:r>
            <a:br/>
            <a:r>
              <a:t>• 스테이지 5~10 타일셋</a:t>
            </a:r>
            <a:br/>
            <a:r>
              <a:t>• 타워 레벨업 변형 (Lv3, Lv5)</a:t>
            </a:r>
            <a:br/>
            <a:r>
              <a:t>• 보스 등장/처치 연출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097280"/>
            <a:ext cx="2148840" cy="5303520"/>
          </a:xfrm>
          <a:prstGeom prst="rect">
            <a:avLst/>
          </a:prstGeom>
          <a:solidFill>
            <a:srgbClr val="1A1828"/>
          </a:solidFill>
          <a:ln w="25400">
            <a:solidFill>
              <a:srgbClr val="906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097280"/>
            <a:ext cx="2148840" cy="457200"/>
          </a:xfrm>
          <a:prstGeom prst="rect">
            <a:avLst/>
          </a:prstGeom>
          <a:solidFill>
            <a:srgbClr val="906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14300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1645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060D0"/>
                </a:solidFill>
                <a:latin typeface="Arial"/>
              </a:defRPr>
            </a:pPr>
            <a:r>
              <a:t>폴리싱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103120"/>
            <a:ext cx="1965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  <a:latin typeface="Arial"/>
              </a:defRPr>
            </a:pPr>
            <a:r>
              <a:t>• 2D Light 세팅 (스테이지별)</a:t>
            </a:r>
            <a:br/>
            <a:r>
              <a:t>• Bloom/PostFX 조정</a:t>
            </a:r>
            <a:br/>
            <a:r>
              <a:t>• 장식 오브젝트 (스테이지별)</a:t>
            </a:r>
            <a:br/>
            <a:r>
              <a:t>• 타워 아이들 애니메이션</a:t>
            </a:r>
            <a:br/>
            <a:r>
              <a:t>• 콤보/특수 이펙트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12  TERMINOLOGY TRANSITION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9890"/>
                </a:solidFill>
                <a:latin typeface="Arial"/>
              </a:defRPr>
            </a:pPr>
            <a:r>
              <a:t>코드명은 유지, 인게임 표시 텍스트만 변경 검토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8288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코드명 (유지)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54480"/>
            <a:ext cx="22860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기존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554480"/>
            <a:ext cx="32004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신규 표시 후보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554480"/>
            <a:ext cx="22860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총괄PD 확인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8288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5740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057400"/>
            <a:ext cx="32004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마물 / 이형체 / Node(유지)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205740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18288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46888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Bit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468880"/>
            <a:ext cx="32004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소울 / 마나 / Bit(유지)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46888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18288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288036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2880360"/>
            <a:ext cx="32004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룬석 / 정수 / Core(유지)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88036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91840"/>
            <a:ext cx="18288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Tower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329184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Tower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3291840"/>
            <a:ext cx="32004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마탑 / Tower(유지)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329184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03320"/>
            <a:ext cx="18288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Hub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70332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3703320"/>
            <a:ext cx="32004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마법진 / Hub(유지)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370332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스킬 트리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11480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스킬 트리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4114800"/>
            <a:ext cx="32004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룬 각성 트리 / 스킬 트리(유지)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411480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526280"/>
            <a:ext cx="18288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Wave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452628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A09890"/>
                </a:solidFill>
                <a:latin typeface="Arial"/>
              </a:defRPr>
            </a:pPr>
            <a:r>
              <a:t>웨이브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4526280"/>
            <a:ext cx="32004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0DCD0"/>
                </a:solidFill>
                <a:latin typeface="Arial"/>
              </a:defRPr>
            </a:pPr>
            <a:r>
              <a:t>침공 / 웨이브(유지)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452628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D84D"/>
                </a:solidFill>
                <a:latin typeface="Arial"/>
              </a:defRPr>
            </a:pPr>
            <a:r>
              <a:t>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FD84D"/>
                </a:solidFill>
                <a:latin typeface="Arial"/>
              </a:defRPr>
            </a:pPr>
            <a:r>
              <a:t>게임명 확정</a:t>
            </a:r>
          </a:p>
          <a:p>
            <a:pPr>
              <a:spcAft>
                <a:spcPts val="400"/>
              </a:spcAft>
              <a:defRPr sz="600" b="0">
                <a:solidFill>
                  <a:srgbClr val="E0DCD0"/>
                </a:solidFill>
                <a:latin typeface="Arial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E0DCD0"/>
                </a:solidFill>
                <a:latin typeface="Arial"/>
              </a:defRPr>
            </a:pPr>
            <a:r>
              <a:t>기존 "Nodebreaker TD" → 신규 "Soulspire"로 확정</a:t>
            </a:r>
          </a:p>
          <a:p>
            <a:pPr>
              <a:spcAft>
                <a:spcPts val="400"/>
              </a:spcAft>
              <a:defRPr sz="1300" b="0">
                <a:solidFill>
                  <a:srgbClr val="A09890"/>
                </a:solidFill>
                <a:latin typeface="Arial"/>
              </a:defRPr>
            </a:pPr>
            <a:r>
              <a:t>세계관: 다크 판타지  |  장르: 픽셀 아트 타워 디펜스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84D"/>
                </a:solidFill>
                <a:latin typeface="Arial"/>
              </a:defRPr>
            </a:pPr>
            <a:r>
              <a:t>13  OPEN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25400"/>
          </a:xfrm>
          <a:prstGeom prst="rect">
            <a:avLst/>
          </a:prstGeom>
          <a:solidFill>
            <a:srgbClr val="5A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097280"/>
            <a:ext cx="50292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이슈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228600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담당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097280"/>
            <a:ext cx="2560320" cy="411480"/>
          </a:xfrm>
          <a:prstGeom prst="rect">
            <a:avLst/>
          </a:prstGeom>
          <a:solidFill>
            <a:srgbClr val="302040"/>
          </a:solidFill>
          <a:ln>
            <a:solidFill>
              <a:srgbClr val="5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D84D"/>
                </a:solidFill>
                <a:latin typeface="Arial"/>
              </a:defRPr>
            </a:pPr>
            <a:r>
              <a:t>상태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457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600200"/>
            <a:ext cx="5029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AI 이미지 생성 도구 최종 선정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TA팀장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600200"/>
            <a:ext cx="256032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44040"/>
                </a:solidFill>
                <a:latin typeface="Arial"/>
              </a:defRPr>
            </a:pPr>
            <a:r>
              <a:t>미정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457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5029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AI 사운드 생성 도구 최종 선정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TA팀장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011680"/>
            <a:ext cx="256032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44040"/>
                </a:solidFill>
                <a:latin typeface="Arial"/>
              </a:defRPr>
            </a:pPr>
            <a:r>
              <a:t>미정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457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423160"/>
            <a:ext cx="5029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다크 판타지 스타일 락 실행 (타워)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2316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TA팀장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423160"/>
            <a:ext cx="256032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D040"/>
                </a:solidFill>
                <a:latin typeface="Arial"/>
              </a:defRPr>
            </a:pPr>
            <a:r>
              <a:t>대기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457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다크 판타지 스타일 락 실행 (몬스터)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TA팀장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834640"/>
            <a:ext cx="256032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D040"/>
                </a:solidFill>
                <a:latin typeface="Arial"/>
              </a:defRPr>
            </a:pPr>
            <a:r>
              <a:t>대기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46120"/>
            <a:ext cx="457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246120"/>
            <a:ext cx="5029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다크 판타지 스타일 락 실행 (타일셋)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24612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TA팀장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246120"/>
            <a:ext cx="256032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D040"/>
                </a:solidFill>
                <a:latin typeface="Arial"/>
              </a:defRPr>
            </a:pPr>
            <a:r>
              <a:t>대기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657600"/>
            <a:ext cx="457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657600"/>
            <a:ext cx="5029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UIColors.cs 팔레트 업데이트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프로그래밍팀장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657600"/>
            <a:ext cx="256032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D84D"/>
                </a:solidFill>
                <a:latin typeface="Arial"/>
              </a:defRPr>
            </a:pPr>
            <a:r>
              <a:t>기획안 확정 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069080"/>
            <a:ext cx="5029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기존 Art 폴더 아카이브 처리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06908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TA팀장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4069080"/>
            <a:ext cx="256032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D84D"/>
                </a:solidFill>
                <a:latin typeface="Arial"/>
              </a:defRPr>
            </a:pPr>
            <a:r>
              <a:t>기획안 확정 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80560"/>
            <a:ext cx="457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4480560"/>
            <a:ext cx="5029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타일맵 셀 크기 최종 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8056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PG+TA팀장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4480560"/>
            <a:ext cx="256032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0D040"/>
                </a:solidFill>
                <a:latin typeface="Arial"/>
              </a:defRPr>
            </a:pPr>
            <a:r>
              <a:t>대기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92040"/>
            <a:ext cx="457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4892040"/>
            <a:ext cx="50292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인게임 텍스트 변경 범위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892040"/>
            <a:ext cx="228600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기획팀장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4892040"/>
            <a:ext cx="2560320" cy="365760"/>
          </a:xfrm>
          <a:prstGeom prst="rect">
            <a:avLst/>
          </a:prstGeom>
          <a:solidFill>
            <a:srgbClr val="1A1828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D84D"/>
                </a:solidFill>
                <a:latin typeface="Arial"/>
              </a:defRPr>
            </a:pPr>
            <a:r>
              <a:t>총괄PD 결정 필요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303520"/>
            <a:ext cx="457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E0DCD0"/>
                </a:solidFill>
                <a:latin typeface="Arial"/>
              </a:defRPr>
            </a:pPr>
            <a:r>
              <a:t>게임명 확정 (→ Soulspire)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303520"/>
            <a:ext cx="228600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09890"/>
                </a:solidFill>
                <a:latin typeface="Arial"/>
              </a:defRPr>
            </a:pPr>
            <a:r>
              <a:t>총괄PD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5303520"/>
            <a:ext cx="2560320" cy="365760"/>
          </a:xfrm>
          <a:prstGeom prst="rect">
            <a:avLst/>
          </a:prstGeom>
          <a:solidFill>
            <a:srgbClr val="161422"/>
          </a:solidFill>
          <a:ln w="6350">
            <a:solidFill>
              <a:srgbClr val="30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40D470"/>
                </a:solidFill>
                <a:latin typeface="Arial"/>
              </a:defRPr>
            </a:pPr>
            <a:r>
              <a:t>확정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