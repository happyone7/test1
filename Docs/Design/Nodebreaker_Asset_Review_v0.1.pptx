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b="1"/>
      </a:lvl1pPr>
    </p:titleStyle>
    <p:bodyStyle>
      <a:lvl1pPr algn="l">
        <a:defRPr sz="1800"/>
      </a:lvl1pPr>
    </p:bodyStyle>
    <p:otherStyle>
      <a:defPPr>
        <a:defRPr sz="1600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685800" y="6858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4400" b="1">
                <a:solidFill>
                  <a:srgbClr val="D8E4FF"/>
                </a:solidFill>
              </a:rPr>
              <a:t>Nodebreaker TD Asset Review</a:t>
            </a:r>
            <a:endParaRPr lang="ko-KR"/>
          </a:p>
        </p:txBody>
      </p:sp>
      <p:sp>
        <p:nvSpPr>
          <p:cNvPr id="4" name="sub"/>
          <p:cNvSpPr/>
          <p:nvPr/>
        </p:nvSpPr>
        <p:spPr>
          <a:xfrm>
            <a:off x="685800" y="16002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AFC3E8"/>
                </a:solidFill>
              </a:rPr>
              <a:t>AssetManifest 기반 그래픽/사운드 검토용 초안
버전: v0.1 / 날짜: 2026-02-14</a:t>
            </a:r>
            <a:endParaRPr lang="ko-KR"/>
          </a:p>
        </p:txBody>
      </p:sp>
      <p:sp>
        <p:nvSpPr>
          <p:cNvPr id="5" name="guide"/>
          <p:cNvSpPr/>
          <p:nvPr/>
        </p:nvSpPr>
        <p:spPr>
          <a:xfrm>
            <a:off x="685800" y="2514600"/>
            <a:ext cx="10800000" cy="2743200"/>
          </a:xfrm>
          <a:prstGeom prst="rect">
            <a:avLst/>
          </a:prstGeom>
          <a:solidFill>
            <a:srgbClr val="121A2A"/>
          </a:solidFill>
          <a:ln w="12700">
            <a:solidFill>
              <a:srgbClr val="2BFF88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2200" b="0">
                <a:solidFill>
                  <a:srgbClr val="FFFFFF"/>
                </a:solidFill>
              </a:rPr>
              <a:t>이 PPT에서 확인할 내용
1) 스타일 방향 고정
2) 타워/적 실루엣 방향
3) 스테이지 테마 톤
4) UI 가독성 기준
5) SFX/BGM 톤 기준</a:t>
            </a:r>
            <a:endParaRPr 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3200" b="1">
                <a:solidFill>
                  <a:srgbClr val="D8E4FF"/>
                </a:solidFill>
              </a:rPr>
              <a:t>스타일 방향 &amp; 컬러 검토</a:t>
            </a:r>
            <a:endParaRPr lang="ko-KR"/>
          </a:p>
        </p:txBody>
      </p:sp>
      <p:sp>
        <p:nvSpPr>
          <p:cNvPr id="4" name="left"/>
          <p:cNvSpPr/>
          <p:nvPr/>
        </p:nvSpPr>
        <p:spPr>
          <a:xfrm>
            <a:off x="457200" y="914400"/>
            <a:ext cx="4572000" cy="205740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700" b="0">
                <a:solidFill>
                  <a:srgbClr val="D8E4FF"/>
                </a:solidFill>
              </a:rPr>
              <a:t>키워드
- 2D 탑다운
- 네온 회로
- 빠른 피드백
- 가독성 우선
체크
- 전투 중 식별 속도
- 배경 대비 오브젝트 명도</a:t>
            </a:r>
            <a:endParaRPr lang="ko-KR"/>
          </a:p>
        </p:txBody>
      </p:sp>
      <p:sp>
        <p:nvSpPr>
          <p:cNvPr id="5" name="chip0"/>
          <p:cNvSpPr/>
          <p:nvPr/>
        </p:nvSpPr>
        <p:spPr>
          <a:xfrm>
            <a:off x="5334000" y="914400"/>
            <a:ext cx="1828800" cy="365760"/>
          </a:xfrm>
          <a:prstGeom prst="rect">
            <a:avLst/>
          </a:prstGeom>
          <a:solidFill>
            <a:srgbClr val="0B0F1A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>Neutral Dark #0B0F1A</a:t>
            </a:r>
            <a:endParaRPr lang="ko-KR"/>
          </a:p>
        </p:txBody>
      </p:sp>
      <p:sp>
        <p:nvSpPr>
          <p:cNvPr id="6" name="chip1"/>
          <p:cNvSpPr/>
          <p:nvPr/>
        </p:nvSpPr>
        <p:spPr>
          <a:xfrm>
            <a:off x="5334000" y="1432560"/>
            <a:ext cx="1828800" cy="365760"/>
          </a:xfrm>
          <a:prstGeom prst="rect">
            <a:avLst/>
          </a:prstGeom>
          <a:solidFill>
            <a:srgbClr val="121A2A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>Panel #121A2A</a:t>
            </a:r>
            <a:endParaRPr lang="ko-KR"/>
          </a:p>
        </p:txBody>
      </p:sp>
      <p:sp>
        <p:nvSpPr>
          <p:cNvPr id="7" name="chip2"/>
          <p:cNvSpPr/>
          <p:nvPr/>
        </p:nvSpPr>
        <p:spPr>
          <a:xfrm>
            <a:off x="5334000" y="1950720"/>
            <a:ext cx="1828800" cy="365760"/>
          </a:xfrm>
          <a:prstGeom prst="rect">
            <a:avLst/>
          </a:prstGeom>
          <a:solidFill>
            <a:srgbClr val="2BFF88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111111"/>
                </a:solidFill>
              </a:rPr>
              <a:t>Stage Early #2BFF88</a:t>
            </a:r>
            <a:endParaRPr lang="ko-KR"/>
          </a:p>
        </p:txBody>
      </p:sp>
      <p:sp>
        <p:nvSpPr>
          <p:cNvPr id="8" name="chip3"/>
          <p:cNvSpPr/>
          <p:nvPr/>
        </p:nvSpPr>
        <p:spPr>
          <a:xfrm>
            <a:off x="5334000" y="2468880"/>
            <a:ext cx="1828800" cy="365760"/>
          </a:xfrm>
          <a:prstGeom prst="rect">
            <a:avLst/>
          </a:prstGeom>
          <a:solidFill>
            <a:srgbClr val="37B6FF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111111"/>
                </a:solidFill>
              </a:rPr>
              <a:t>Blue Accent #37B6FF</a:t>
            </a:r>
            <a:endParaRPr lang="ko-KR"/>
          </a:p>
        </p:txBody>
      </p:sp>
      <p:sp>
        <p:nvSpPr>
          <p:cNvPr id="9" name="chip4"/>
          <p:cNvSpPr/>
          <p:nvPr/>
        </p:nvSpPr>
        <p:spPr>
          <a:xfrm>
            <a:off x="5334000" y="2987040"/>
            <a:ext cx="1828800" cy="365760"/>
          </a:xfrm>
          <a:prstGeom prst="rect">
            <a:avLst/>
          </a:prstGeom>
          <a:solidFill>
            <a:srgbClr val="FF9A3D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111111"/>
                </a:solidFill>
              </a:rPr>
              <a:t>Orange Accent #FF9A3D</a:t>
            </a:r>
            <a:endParaRPr lang="ko-KR"/>
          </a:p>
        </p:txBody>
      </p:sp>
      <p:sp>
        <p:nvSpPr>
          <p:cNvPr id="10" name="chip5"/>
          <p:cNvSpPr/>
          <p:nvPr/>
        </p:nvSpPr>
        <p:spPr>
          <a:xfrm>
            <a:off x="5334000" y="3505200"/>
            <a:ext cx="1828800" cy="365760"/>
          </a:xfrm>
          <a:prstGeom prst="rect">
            <a:avLst/>
          </a:prstGeom>
          <a:solidFill>
            <a:srgbClr val="FF4D5A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>Alert #FF4D5A</a:t>
            </a:r>
            <a:endParaRPr lang="ko-KR"/>
          </a:p>
        </p:txBody>
      </p:sp>
      <p:sp>
        <p:nvSpPr>
          <p:cNvPr id="11" name="chip6"/>
          <p:cNvSpPr/>
          <p:nvPr/>
        </p:nvSpPr>
        <p:spPr>
          <a:xfrm>
            <a:off x="5334000" y="4023360"/>
            <a:ext cx="1828800" cy="365760"/>
          </a:xfrm>
          <a:prstGeom prst="rect">
            <a:avLst/>
          </a:prstGeom>
          <a:solidFill>
            <a:srgbClr val="FFD84D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111111"/>
                </a:solidFill>
              </a:rPr>
              <a:t>Rare #FFD84D</a:t>
            </a:r>
            <a:endParaRPr lang="ko-KR"/>
          </a:p>
        </p:txBody>
      </p:sp>
      <p:sp>
        <p:nvSpPr>
          <p:cNvPr id="12" name="ref"/>
          <p:cNvSpPr/>
          <p:nvPr/>
        </p:nvSpPr>
        <p:spPr>
          <a:xfrm>
            <a:off x="7620000" y="914400"/>
            <a:ext cx="4114800" cy="365760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800" b="0">
                <a:solidFill>
                  <a:srgbClr val="AFC3E8"/>
                </a:solidFill>
              </a:rPr>
              <a:t>레퍼런스 이미지 붙여넣기 영역
(스타일락 후보 4~6장)</a:t>
            </a:r>
            <a:endParaRPr 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3200" b="1">
                <a:solidFill>
                  <a:srgbClr val="D8E4FF"/>
                </a:solidFill>
              </a:rPr>
              <a:t>타워 6종 이미지 검토 보드</a:t>
            </a:r>
            <a:endParaRPr lang="ko-KR"/>
          </a:p>
        </p:txBody>
      </p:sp>
      <p:sp>
        <p:nvSpPr>
          <p:cNvPr id="4" name="tower0"/>
          <p:cNvSpPr/>
          <p:nvPr/>
        </p:nvSpPr>
        <p:spPr>
          <a:xfrm>
            <a:off x="457200" y="914400"/>
            <a:ext cx="3505200" cy="2148840"/>
          </a:xfrm>
          <a:prstGeom prst="rect">
            <a:avLst/>
          </a:prstGeom>
          <a:solidFill>
            <a:srgbClr val="121A2A"/>
          </a:solidFill>
          <a:ln w="12700">
            <a:solidFill>
              <a:srgbClr val="2BFF88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600" b="0">
                <a:solidFill>
                  <a:srgbClr val="D8E4FF"/>
                </a:solidFill>
              </a:rPr>
              <a:t>T01 Arrow
이미지 삽입
체크: 실루엣 / 역할 인지</a:t>
            </a:r>
            <a:endParaRPr lang="ko-KR"/>
          </a:p>
        </p:txBody>
      </p:sp>
      <p:sp>
        <p:nvSpPr>
          <p:cNvPr id="5" name="tower1"/>
          <p:cNvSpPr/>
          <p:nvPr/>
        </p:nvSpPr>
        <p:spPr>
          <a:xfrm>
            <a:off x="4267200" y="914400"/>
            <a:ext cx="3505200" cy="2148840"/>
          </a:xfrm>
          <a:prstGeom prst="rect">
            <a:avLst/>
          </a:prstGeom>
          <a:solidFill>
            <a:srgbClr val="121A2A"/>
          </a:solidFill>
          <a:ln w="12700">
            <a:solidFill>
              <a:srgbClr val="2BFF88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600" b="0">
                <a:solidFill>
                  <a:srgbClr val="D8E4FF"/>
                </a:solidFill>
              </a:rPr>
              <a:t>T02 Cannon
이미지 삽입
체크: 실루엣 / 역할 인지</a:t>
            </a:r>
            <a:endParaRPr lang="ko-KR"/>
          </a:p>
        </p:txBody>
      </p:sp>
      <p:sp>
        <p:nvSpPr>
          <p:cNvPr id="6" name="tower2"/>
          <p:cNvSpPr/>
          <p:nvPr/>
        </p:nvSpPr>
        <p:spPr>
          <a:xfrm>
            <a:off x="8077200" y="914400"/>
            <a:ext cx="3505200" cy="2148840"/>
          </a:xfrm>
          <a:prstGeom prst="rect">
            <a:avLst/>
          </a:prstGeom>
          <a:solidFill>
            <a:srgbClr val="121A2A"/>
          </a:solidFill>
          <a:ln w="12700">
            <a:solidFill>
              <a:srgbClr val="2BFF88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600" b="0">
                <a:solidFill>
                  <a:srgbClr val="D8E4FF"/>
                </a:solidFill>
              </a:rPr>
              <a:t>T03 Ice
이미지 삽입
체크: 실루엣 / 역할 인지</a:t>
            </a:r>
            <a:endParaRPr lang="ko-KR"/>
          </a:p>
        </p:txBody>
      </p:sp>
      <p:sp>
        <p:nvSpPr>
          <p:cNvPr id="7" name="tower3"/>
          <p:cNvSpPr/>
          <p:nvPr/>
        </p:nvSpPr>
        <p:spPr>
          <a:xfrm>
            <a:off x="457200" y="3291840"/>
            <a:ext cx="3505200" cy="2148840"/>
          </a:xfrm>
          <a:prstGeom prst="rect">
            <a:avLst/>
          </a:prstGeom>
          <a:solidFill>
            <a:srgbClr val="121A2A"/>
          </a:solidFill>
          <a:ln w="12700">
            <a:solidFill>
              <a:srgbClr val="2BFF88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600" b="0">
                <a:solidFill>
                  <a:srgbClr val="D8E4FF"/>
                </a:solidFill>
              </a:rPr>
              <a:t>T04 Lightning
이미지 삽입
체크: 실루엣 / 역할 인지</a:t>
            </a:r>
            <a:endParaRPr lang="ko-KR"/>
          </a:p>
        </p:txBody>
      </p:sp>
      <p:sp>
        <p:nvSpPr>
          <p:cNvPr id="8" name="tower4"/>
          <p:cNvSpPr/>
          <p:nvPr/>
        </p:nvSpPr>
        <p:spPr>
          <a:xfrm>
            <a:off x="4267200" y="3291840"/>
            <a:ext cx="3505200" cy="2148840"/>
          </a:xfrm>
          <a:prstGeom prst="rect">
            <a:avLst/>
          </a:prstGeom>
          <a:solidFill>
            <a:srgbClr val="121A2A"/>
          </a:solidFill>
          <a:ln w="12700">
            <a:solidFill>
              <a:srgbClr val="2BFF88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600" b="0">
                <a:solidFill>
                  <a:srgbClr val="D8E4FF"/>
                </a:solidFill>
              </a:rPr>
              <a:t>T05 Laser
이미지 삽입
체크: 실루엣 / 역할 인지</a:t>
            </a:r>
            <a:endParaRPr lang="ko-KR"/>
          </a:p>
        </p:txBody>
      </p:sp>
      <p:sp>
        <p:nvSpPr>
          <p:cNvPr id="9" name="tower5"/>
          <p:cNvSpPr/>
          <p:nvPr/>
        </p:nvSpPr>
        <p:spPr>
          <a:xfrm>
            <a:off x="8077200" y="3291840"/>
            <a:ext cx="3505200" cy="2148840"/>
          </a:xfrm>
          <a:prstGeom prst="rect">
            <a:avLst/>
          </a:prstGeom>
          <a:solidFill>
            <a:srgbClr val="121A2A"/>
          </a:solidFill>
          <a:ln w="12700">
            <a:solidFill>
              <a:srgbClr val="2BFF88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600" b="0">
                <a:solidFill>
                  <a:srgbClr val="D8E4FF"/>
                </a:solidFill>
              </a:rPr>
              <a:t>T06 Void
이미지 삽입
체크: 실루엣 / 역할 인지</a:t>
            </a:r>
            <a:endParaRPr 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3200" b="1">
                <a:solidFill>
                  <a:srgbClr val="D8E4FF"/>
                </a:solidFill>
              </a:rPr>
              <a:t>Node 9종 이미지 검토 보드</a:t>
            </a:r>
            <a:endParaRPr lang="ko-KR"/>
          </a:p>
        </p:txBody>
      </p:sp>
      <p:sp>
        <p:nvSpPr>
          <p:cNvPr id="4" name="node0"/>
          <p:cNvSpPr/>
          <p:nvPr/>
        </p:nvSpPr>
        <p:spPr>
          <a:xfrm>
            <a:off x="304800" y="91440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N01 Bit
이미지 삽입</a:t>
            </a:r>
            <a:endParaRPr lang="ko-KR"/>
          </a:p>
        </p:txBody>
      </p:sp>
      <p:sp>
        <p:nvSpPr>
          <p:cNvPr id="5" name="node1"/>
          <p:cNvSpPr/>
          <p:nvPr/>
        </p:nvSpPr>
        <p:spPr>
          <a:xfrm>
            <a:off x="4114800" y="91440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N02 Quick
이미지 삽입</a:t>
            </a:r>
            <a:endParaRPr lang="ko-KR"/>
          </a:p>
        </p:txBody>
      </p:sp>
      <p:sp>
        <p:nvSpPr>
          <p:cNvPr id="6" name="node2"/>
          <p:cNvSpPr/>
          <p:nvPr/>
        </p:nvSpPr>
        <p:spPr>
          <a:xfrm>
            <a:off x="7924800" y="91440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N03 Heavy
이미지 삽입</a:t>
            </a:r>
            <a:endParaRPr lang="ko-KR"/>
          </a:p>
        </p:txBody>
      </p:sp>
      <p:sp>
        <p:nvSpPr>
          <p:cNvPr id="7" name="node3"/>
          <p:cNvSpPr/>
          <p:nvPr/>
        </p:nvSpPr>
        <p:spPr>
          <a:xfrm>
            <a:off x="304800" y="257556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N04 Shield
이미지 삽입</a:t>
            </a:r>
            <a:endParaRPr lang="ko-KR"/>
          </a:p>
        </p:txBody>
      </p:sp>
      <p:sp>
        <p:nvSpPr>
          <p:cNvPr id="8" name="node4"/>
          <p:cNvSpPr/>
          <p:nvPr/>
        </p:nvSpPr>
        <p:spPr>
          <a:xfrm>
            <a:off x="4114800" y="257556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N05 Swarm
이미지 삽입</a:t>
            </a:r>
            <a:endParaRPr lang="ko-KR"/>
          </a:p>
        </p:txBody>
      </p:sp>
      <p:sp>
        <p:nvSpPr>
          <p:cNvPr id="9" name="node5"/>
          <p:cNvSpPr/>
          <p:nvPr/>
        </p:nvSpPr>
        <p:spPr>
          <a:xfrm>
            <a:off x="7924800" y="257556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N06 Regen
이미지 삽입</a:t>
            </a:r>
            <a:endParaRPr lang="ko-KR"/>
          </a:p>
        </p:txBody>
      </p:sp>
      <p:sp>
        <p:nvSpPr>
          <p:cNvPr id="10" name="node6"/>
          <p:cNvSpPr/>
          <p:nvPr/>
        </p:nvSpPr>
        <p:spPr>
          <a:xfrm>
            <a:off x="304800" y="423672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N07 Phase
이미지 삽입</a:t>
            </a:r>
            <a:endParaRPr lang="ko-KR"/>
          </a:p>
        </p:txBody>
      </p:sp>
      <p:sp>
        <p:nvSpPr>
          <p:cNvPr id="11" name="node7"/>
          <p:cNvSpPr/>
          <p:nvPr/>
        </p:nvSpPr>
        <p:spPr>
          <a:xfrm>
            <a:off x="4114800" y="423672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N08 Split
이미지 삽입</a:t>
            </a:r>
            <a:endParaRPr lang="ko-KR"/>
          </a:p>
        </p:txBody>
      </p:sp>
      <p:sp>
        <p:nvSpPr>
          <p:cNvPr id="12" name="node8"/>
          <p:cNvSpPr/>
          <p:nvPr/>
        </p:nvSpPr>
        <p:spPr>
          <a:xfrm>
            <a:off x="7924800" y="4236720"/>
            <a:ext cx="3657600" cy="1508760"/>
          </a:xfrm>
          <a:prstGeom prst="rect">
            <a:avLst/>
          </a:prstGeom>
          <a:solidFill>
            <a:srgbClr val="121A2A"/>
          </a:solidFill>
          <a:ln w="12700">
            <a:solidFill>
              <a:srgbClr val="FF4D5A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N09 Boss
이미지 삽입</a:t>
            </a:r>
            <a:endParaRPr 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457200" y="152400"/>
            <a:ext cx="11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3000" b="1">
                <a:solidFill>
                  <a:srgbClr val="D8E4FF"/>
                </a:solidFill>
              </a:rPr>
              <a:t>스테이지 테마 10종 톤 검토</a:t>
            </a:r>
            <a:endParaRPr lang="ko-KR"/>
          </a:p>
        </p:txBody>
      </p:sp>
      <p:sp>
        <p:nvSpPr>
          <p:cNvPr id="4" name="st0"/>
          <p:cNvSpPr/>
          <p:nvPr/>
        </p:nvSpPr>
        <p:spPr>
          <a:xfrm>
            <a:off x="457200" y="76200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1 Data Stream  |  이미지 삽입 / 톤 확인</a:t>
            </a:r>
            <a:endParaRPr lang="ko-KR"/>
          </a:p>
        </p:txBody>
      </p:sp>
      <p:sp>
        <p:nvSpPr>
          <p:cNvPr id="5" name="stchip0"/>
          <p:cNvSpPr/>
          <p:nvPr/>
        </p:nvSpPr>
        <p:spPr>
          <a:xfrm>
            <a:off x="5257800" y="838200"/>
            <a:ext cx="762000" cy="381000"/>
          </a:xfrm>
          <a:prstGeom prst="rect">
            <a:avLst/>
          </a:prstGeom>
          <a:solidFill>
            <a:srgbClr val="2BFF88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6" name="st1"/>
          <p:cNvSpPr/>
          <p:nvPr/>
        </p:nvSpPr>
        <p:spPr>
          <a:xfrm>
            <a:off x="457200" y="135636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2 Memory Block  |  이미지 삽입 / 톤 확인</a:t>
            </a:r>
            <a:endParaRPr lang="ko-KR"/>
          </a:p>
        </p:txBody>
      </p:sp>
      <p:sp>
        <p:nvSpPr>
          <p:cNvPr id="7" name="stchip1"/>
          <p:cNvSpPr/>
          <p:nvPr/>
        </p:nvSpPr>
        <p:spPr>
          <a:xfrm>
            <a:off x="5257800" y="1432560"/>
            <a:ext cx="762000" cy="381000"/>
          </a:xfrm>
          <a:prstGeom prst="rect">
            <a:avLst/>
          </a:prstGeom>
          <a:solidFill>
            <a:srgbClr val="37B6FF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8" name="st2"/>
          <p:cNvSpPr/>
          <p:nvPr/>
        </p:nvSpPr>
        <p:spPr>
          <a:xfrm>
            <a:off x="457200" y="195072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3 Cache Layer  |  이미지 삽입 / 톤 확인</a:t>
            </a:r>
            <a:endParaRPr lang="ko-KR"/>
          </a:p>
        </p:txBody>
      </p:sp>
      <p:sp>
        <p:nvSpPr>
          <p:cNvPr id="9" name="stchip2"/>
          <p:cNvSpPr/>
          <p:nvPr/>
        </p:nvSpPr>
        <p:spPr>
          <a:xfrm>
            <a:off x="5257800" y="2026920"/>
            <a:ext cx="762000" cy="381000"/>
          </a:xfrm>
          <a:prstGeom prst="rect">
            <a:avLst/>
          </a:prstGeom>
          <a:solidFill>
            <a:srgbClr val="B86CFF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10" name="st3"/>
          <p:cNvSpPr/>
          <p:nvPr/>
        </p:nvSpPr>
        <p:spPr>
          <a:xfrm>
            <a:off x="457200" y="254508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4 Pipeline  |  이미지 삽입 / 톤 확인</a:t>
            </a:r>
            <a:endParaRPr lang="ko-KR"/>
          </a:p>
        </p:txBody>
      </p:sp>
      <p:sp>
        <p:nvSpPr>
          <p:cNvPr id="11" name="stchip3"/>
          <p:cNvSpPr/>
          <p:nvPr/>
        </p:nvSpPr>
        <p:spPr>
          <a:xfrm>
            <a:off x="5257800" y="2621280"/>
            <a:ext cx="762000" cy="3810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12" name="st4"/>
          <p:cNvSpPr/>
          <p:nvPr/>
        </p:nvSpPr>
        <p:spPr>
          <a:xfrm>
            <a:off x="457200" y="313944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5 Processor Core  |  이미지 삽입 / 톤 확인</a:t>
            </a:r>
            <a:endParaRPr lang="ko-KR"/>
          </a:p>
        </p:txBody>
      </p:sp>
      <p:sp>
        <p:nvSpPr>
          <p:cNvPr id="13" name="stchip4"/>
          <p:cNvSpPr/>
          <p:nvPr/>
        </p:nvSpPr>
        <p:spPr>
          <a:xfrm>
            <a:off x="5257800" y="3215640"/>
            <a:ext cx="762000" cy="381000"/>
          </a:xfrm>
          <a:prstGeom prst="rect">
            <a:avLst/>
          </a:prstGeom>
          <a:solidFill>
            <a:srgbClr val="FF4D5A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14" name="st5"/>
          <p:cNvSpPr/>
          <p:nvPr/>
        </p:nvSpPr>
        <p:spPr>
          <a:xfrm>
            <a:off x="6477000" y="76200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6 Bus Network  |  이미지 삽입 / 톤 확인</a:t>
            </a:r>
            <a:endParaRPr lang="ko-KR"/>
          </a:p>
        </p:txBody>
      </p:sp>
      <p:sp>
        <p:nvSpPr>
          <p:cNvPr id="15" name="stchip5"/>
          <p:cNvSpPr/>
          <p:nvPr/>
        </p:nvSpPr>
        <p:spPr>
          <a:xfrm>
            <a:off x="11277600" y="838200"/>
            <a:ext cx="762000" cy="381000"/>
          </a:xfrm>
          <a:prstGeom prst="rect">
            <a:avLst/>
          </a:prstGeom>
          <a:solidFill>
            <a:srgbClr val="8BE5FF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16" name="st6"/>
          <p:cNvSpPr/>
          <p:nvPr/>
        </p:nvSpPr>
        <p:spPr>
          <a:xfrm>
            <a:off x="6477000" y="135636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7 Kernel Space  |  이미지 삽입 / 톤 확인</a:t>
            </a:r>
            <a:endParaRPr lang="ko-KR"/>
          </a:p>
        </p:txBody>
      </p:sp>
      <p:sp>
        <p:nvSpPr>
          <p:cNvPr id="17" name="stchip6"/>
          <p:cNvSpPr/>
          <p:nvPr/>
        </p:nvSpPr>
        <p:spPr>
          <a:xfrm>
            <a:off x="11277600" y="1432560"/>
            <a:ext cx="762000" cy="381000"/>
          </a:xfrm>
          <a:prstGeom prst="rect">
            <a:avLst/>
          </a:prstGeom>
          <a:solidFill>
            <a:srgbClr val="7C4DFF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18" name="st7"/>
          <p:cNvSpPr/>
          <p:nvPr/>
        </p:nvSpPr>
        <p:spPr>
          <a:xfrm>
            <a:off x="6477000" y="195072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8 Overflow Zone  |  이미지 삽입 / 톤 확인</a:t>
            </a:r>
            <a:endParaRPr lang="ko-KR"/>
          </a:p>
        </p:txBody>
      </p:sp>
      <p:sp>
        <p:nvSpPr>
          <p:cNvPr id="19" name="stchip7"/>
          <p:cNvSpPr/>
          <p:nvPr/>
        </p:nvSpPr>
        <p:spPr>
          <a:xfrm>
            <a:off x="11277600" y="2026920"/>
            <a:ext cx="762000" cy="381000"/>
          </a:xfrm>
          <a:prstGeom prst="rect">
            <a:avLst/>
          </a:prstGeom>
          <a:solidFill>
            <a:srgbClr val="9F1E1E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20" name="st8"/>
          <p:cNvSpPr/>
          <p:nvPr/>
        </p:nvSpPr>
        <p:spPr>
          <a:xfrm>
            <a:off x="6477000" y="254508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9 Root Access  |  이미지 삽입 / 톤 확인</a:t>
            </a:r>
            <a:endParaRPr lang="ko-KR"/>
          </a:p>
        </p:txBody>
      </p:sp>
      <p:sp>
        <p:nvSpPr>
          <p:cNvPr id="21" name="stchip8"/>
          <p:cNvSpPr/>
          <p:nvPr/>
        </p:nvSpPr>
        <p:spPr>
          <a:xfrm>
            <a:off x="11277600" y="2621280"/>
            <a:ext cx="762000" cy="381000"/>
          </a:xfrm>
          <a:prstGeom prst="rect">
            <a:avLst/>
          </a:prstGeom>
          <a:solidFill>
            <a:srgbClr val="FFD84D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22" name="st9"/>
          <p:cNvSpPr/>
          <p:nvPr/>
        </p:nvSpPr>
        <p:spPr>
          <a:xfrm>
            <a:off x="6477000" y="3139440"/>
            <a:ext cx="5715000" cy="54864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300" b="0">
                <a:solidFill>
                  <a:srgbClr val="D8E4FF"/>
                </a:solidFill>
              </a:rPr>
              <a:t>10 Kernel Panic  |  이미지 삽입 / 톤 확인</a:t>
            </a:r>
            <a:endParaRPr lang="ko-KR"/>
          </a:p>
        </p:txBody>
      </p:sp>
      <p:sp>
        <p:nvSpPr>
          <p:cNvPr id="23" name="stchip9"/>
          <p:cNvSpPr/>
          <p:nvPr/>
        </p:nvSpPr>
        <p:spPr>
          <a:xfrm>
            <a:off x="11277600" y="3215640"/>
            <a:ext cx="7620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200" b="0">
                <a:solidFill>
                  <a:srgbClr val="FFFFFF"/>
                </a:solidFill>
              </a:rPr>
              <a:t/>
            </a:r>
            <a:endParaRPr 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3200" b="1">
                <a:solidFill>
                  <a:srgbClr val="D8E4FF"/>
                </a:solidFill>
              </a:rPr>
              <a:t>UI / VFX 검토 보드</a:t>
            </a:r>
            <a:endParaRPr lang="ko-KR"/>
          </a:p>
        </p:txBody>
      </p:sp>
      <p:sp>
        <p:nvSpPr>
          <p:cNvPr id="4" name="HUD (Wave / Bit / HP)"/>
          <p:cNvSpPr/>
          <p:nvPr/>
        </p:nvSpPr>
        <p:spPr>
          <a:xfrm>
            <a:off x="457200" y="914400"/>
            <a:ext cx="5486400" cy="137160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HUD (Wave / Bit / HP)
이미지 or GIF 프레임 붙여넣기</a:t>
            </a:r>
            <a:endParaRPr lang="ko-KR"/>
          </a:p>
        </p:txBody>
      </p:sp>
      <p:sp>
        <p:nvSpPr>
          <p:cNvPr id="5" name="Hub Skill Tree"/>
          <p:cNvSpPr/>
          <p:nvPr/>
        </p:nvSpPr>
        <p:spPr>
          <a:xfrm>
            <a:off x="457200" y="2438400"/>
            <a:ext cx="5486400" cy="198120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Hub Skill Tree
이미지 or GIF 프레임 붙여넣기</a:t>
            </a:r>
            <a:endParaRPr lang="ko-KR"/>
          </a:p>
        </p:txBody>
      </p:sp>
      <p:sp>
        <p:nvSpPr>
          <p:cNvPr id="6" name="Run Complete / Stage Clear"/>
          <p:cNvSpPr/>
          <p:nvPr/>
        </p:nvSpPr>
        <p:spPr>
          <a:xfrm>
            <a:off x="457200" y="4572000"/>
            <a:ext cx="5486400" cy="182880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Run Complete / Stage Clear
이미지 or GIF 프레임 붙여넣기</a:t>
            </a:r>
            <a:endParaRPr lang="ko-KR"/>
          </a:p>
        </p:txBody>
      </p:sp>
      <p:sp>
        <p:nvSpPr>
          <p:cNvPr id="7" name="VFX Micro/Small"/>
          <p:cNvSpPr/>
          <p:nvPr/>
        </p:nvSpPr>
        <p:spPr>
          <a:xfrm>
            <a:off x="6248400" y="914400"/>
            <a:ext cx="5486400" cy="137160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VFX Micro/Small
이미지 or GIF 프레임 붙여넣기</a:t>
            </a:r>
            <a:endParaRPr lang="ko-KR"/>
          </a:p>
        </p:txBody>
      </p:sp>
      <p:sp>
        <p:nvSpPr>
          <p:cNvPr id="8" name="VFX Medium/Large"/>
          <p:cNvSpPr/>
          <p:nvPr/>
        </p:nvSpPr>
        <p:spPr>
          <a:xfrm>
            <a:off x="6248400" y="2438400"/>
            <a:ext cx="5486400" cy="198120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VFX Medium/Large
이미지 or GIF 프레임 붙여넣기</a:t>
            </a:r>
            <a:endParaRPr lang="ko-KR"/>
          </a:p>
        </p:txBody>
      </p:sp>
      <p:sp>
        <p:nvSpPr>
          <p:cNvPr id="9" name="Boss/Legend FX"/>
          <p:cNvSpPr/>
          <p:nvPr/>
        </p:nvSpPr>
        <p:spPr>
          <a:xfrm>
            <a:off x="6248400" y="4572000"/>
            <a:ext cx="5486400" cy="1828800"/>
          </a:xfrm>
          <a:prstGeom prst="rect">
            <a:avLst/>
          </a:prstGeom>
          <a:solidFill>
            <a:srgbClr val="121A2A"/>
          </a:solidFill>
          <a:ln w="12700">
            <a:solidFill>
              <a:srgbClr val="37B6FF"/>
            </a:solidFill>
          </a:ln>
        </p:spPr>
        <p:txBody>
          <a:bodyPr wrap="square" lIns="91440" tIns="45720" rIns="91440" bIns="45720" anchor="t"/>
          <a:lstStyle/>
          <a:p>
            <a:pPr algn="ctr"/>
            <a:r>
              <a:rPr lang="ko-KR" sz="1500" b="0">
                <a:solidFill>
                  <a:srgbClr val="D8E4FF"/>
                </a:solidFill>
              </a:rPr>
              <a:t>Boss/Legend FX
이미지 or GIF 프레임 붙여넣기</a:t>
            </a:r>
            <a:endParaRPr 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3200" b="1">
                <a:solidFill>
                  <a:srgbClr val="D8E4FF"/>
                </a:solidFill>
              </a:rPr>
              <a:t>사운드 검토 시트</a:t>
            </a:r>
            <a:endParaRPr lang="ko-KR"/>
          </a:p>
        </p:txBody>
      </p:sp>
      <p:sp>
        <p:nvSpPr>
          <p:cNvPr id="4" name="sfx"/>
          <p:cNvSpPr/>
          <p:nvPr/>
        </p:nvSpPr>
        <p:spPr>
          <a:xfrm>
            <a:off x="457200" y="914400"/>
            <a:ext cx="5638800" cy="2438400"/>
          </a:xfrm>
          <a:prstGeom prst="rect">
            <a:avLst/>
          </a:prstGeom>
          <a:solidFill>
            <a:srgbClr val="121A2A"/>
          </a:solidFill>
          <a:ln w="12700">
            <a:solidFill>
              <a:srgbClr val="2BFF88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600" b="0">
                <a:solidFill>
                  <a:srgbClr val="D8E4FF"/>
                </a:solidFill>
              </a:rPr>
              <a:t>SFX 체크
- Tower Fire/Hit (타워별)
- Node Death (일반/보스)
- Wave Clear / Stage Clear
- Upgrade / UI Click / Alert
각 이벤트 3~5변형</a:t>
            </a:r>
            <a:endParaRPr lang="ko-KR"/>
          </a:p>
        </p:txBody>
      </p:sp>
      <p:sp>
        <p:nvSpPr>
          <p:cNvPr id="5" name="bgm"/>
          <p:cNvSpPr/>
          <p:nvPr/>
        </p:nvSpPr>
        <p:spPr>
          <a:xfrm>
            <a:off x="6400800" y="914400"/>
            <a:ext cx="5334000" cy="2438400"/>
          </a:xfrm>
          <a:prstGeom prst="rect">
            <a:avLst/>
          </a:prstGeom>
          <a:solidFill>
            <a:srgbClr val="121A2A"/>
          </a:solidFill>
          <a:ln w="12700">
            <a:solidFill>
              <a:srgbClr val="FF9A3D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600" b="0">
                <a:solidFill>
                  <a:srgbClr val="D8E4FF"/>
                </a:solidFill>
              </a:rPr>
              <a:t>BGM 체크
- Hub 1트랙
- Normal / Tension / Boss 레이어
- 루프 클릭 유무
- 전투 중 UI 가청성</a:t>
            </a:r>
            <a:endParaRPr lang="ko-KR"/>
          </a:p>
        </p:txBody>
      </p:sp>
      <p:sp>
        <p:nvSpPr>
          <p:cNvPr id="6" name="links"/>
          <p:cNvSpPr/>
          <p:nvPr/>
        </p:nvSpPr>
        <p:spPr>
          <a:xfrm>
            <a:off x="457200" y="3505200"/>
            <a:ext cx="11277600" cy="289560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500" b="0">
                <a:solidFill>
                  <a:srgbClr val="AFC3E8"/>
                </a:solidFill>
              </a:rPr>
              <a:t>샘플 링크/파일 경로 붙여넣기
- SFX Pack A:
- SFX Pack B:
- BGM Draft 01:
- BGM Draft 02:
청취 후 판정: Keep / Revise / Reject</a:t>
            </a:r>
            <a:endParaRPr 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800" b="0">
                <a:solidFill>
                  <a:srgbClr val="FFFFFF"/>
                </a:solidFill>
              </a:rPr>
              <a:t/>
            </a:r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3200" b="1">
                <a:solidFill>
                  <a:srgbClr val="D8E4FF"/>
                </a:solidFill>
              </a:rPr>
              <a:t>확정 필요 항목 (의사결정)</a:t>
            </a:r>
            <a:endParaRPr lang="ko-KR"/>
          </a:p>
        </p:txBody>
      </p:sp>
      <p:sp>
        <p:nvSpPr>
          <p:cNvPr id="4" name="qs"/>
          <p:cNvSpPr/>
          <p:nvPr/>
        </p:nvSpPr>
        <p:spPr>
          <a:xfrm>
            <a:off x="457200" y="914400"/>
            <a:ext cx="11277600" cy="3505200"/>
          </a:xfrm>
          <a:prstGeom prst="rect">
            <a:avLst/>
          </a:prstGeom>
          <a:solidFill>
            <a:srgbClr val="121A2A"/>
          </a:solidFill>
          <a:ln w="12700">
            <a:solidFill>
              <a:srgbClr val="FF4D5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700" b="0">
                <a:solidFill>
                  <a:srgbClr val="FFFFFF"/>
                </a:solidFill>
              </a:rPr>
              <a:t>1) 기준 해상도/PPU 확정
2) 타워/Node 스타일 방향 1안 선택
3) 스테이지별 톤 강도(초반-후반) 확정
4) UI 톤: 미니멀 vs 화려함 비율
5) 사운드 톤: 밝음/공격적/무게감 중 우선 순위
6) 외주 vs 내부 제작 분담 범위
7) AI 생성 리소스 라이선스 기록 방식</a:t>
            </a:r>
            <a:endParaRPr lang="ko-KR"/>
          </a:p>
        </p:txBody>
      </p:sp>
      <p:sp>
        <p:nvSpPr>
          <p:cNvPr id="5" name="decision"/>
          <p:cNvSpPr/>
          <p:nvPr/>
        </p:nvSpPr>
        <p:spPr>
          <a:xfrm>
            <a:off x="457200" y="4572000"/>
            <a:ext cx="11277600" cy="182880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txBody>
          <a:bodyPr wrap="square" lIns="91440" tIns="45720" rIns="91440" bIns="45720" anchor="t"/>
          <a:lstStyle/>
          <a:p>
            <a:pPr algn="l"/>
            <a:r>
              <a:rPr lang="ko-KR" sz="1600" b="0">
                <a:solidFill>
                  <a:srgbClr val="D8E4FF"/>
                </a:solidFill>
              </a:rPr>
              <a:t>결정 메모
- 확정:
- 보류:
- 다음 액션(담당/마감):</a:t>
            </a:r>
            <a:endParaRPr 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/>
          </a:solidFill>
        </a:ln>
        <a:ln w="2540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shade val="63000"/>
                <a:satMod val="120000"/>
              </a:schemeClr>
            </a:gs>
            <a:gs pos="100000">
              <a:schemeClr val="phClr">
                <a:shade val="37000"/>
                <a:satMod val="12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Slides>8</Slides>
  <Notes>0</Notes>
  <HiddenSlides>0</HiddenSlides>
  <PresentationFormat>On-screen Show (16:9)</PresentationFormat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Nodebreaker TD Asset Review</dc:title>
  <dc:creator>Codex</dc:creator>
  <cp:lastModifiedBy>Codex</cp:lastModifiedBy>
  <dcterms:created xsi:type="dcterms:W3CDTF">2026-02-14T10:58:31Z</dcterms:created>
  <dcterms:modified xsi:type="dcterms:W3CDTF">2026-02-14T10:58:31Z</dcterms:modified>
</cp:coreProperties>
</file>